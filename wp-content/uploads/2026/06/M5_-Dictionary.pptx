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1" r:id="rId1"/>
  </p:sldMasterIdLst>
  <p:notesMasterIdLst>
    <p:notesMasterId r:id="rId11"/>
  </p:notesMasterIdLst>
  <p:handoutMasterIdLst>
    <p:handoutMasterId r:id="rId12"/>
  </p:handoutMasterIdLst>
  <p:sldIdLst>
    <p:sldId id="318" r:id="rId2"/>
    <p:sldId id="311" r:id="rId3"/>
    <p:sldId id="256" r:id="rId4"/>
    <p:sldId id="313" r:id="rId5"/>
    <p:sldId id="317" r:id="rId6"/>
    <p:sldId id="314" r:id="rId7"/>
    <p:sldId id="309" r:id="rId8"/>
    <p:sldId id="315" r:id="rId9"/>
    <p:sldId id="316" r:id="rId10"/>
  </p:sldIdLst>
  <p:sldSz cx="9144000" cy="6858000" type="screen4x3"/>
  <p:notesSz cx="6888163" cy="100203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5">
          <p15:clr>
            <a:srgbClr val="A4A3A4"/>
          </p15:clr>
        </p15:guide>
        <p15:guide id="2" pos="216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CC0099"/>
    <a:srgbClr val="C12FAC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0860" autoAdjust="0"/>
  </p:normalViewPr>
  <p:slideViewPr>
    <p:cSldViewPr showGuides="1">
      <p:cViewPr varScale="1">
        <p:scale>
          <a:sx n="60" d="100"/>
          <a:sy n="60" d="100"/>
        </p:scale>
        <p:origin x="1412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50" d="100"/>
          <a:sy n="50" d="100"/>
        </p:scale>
        <p:origin x="-2940" y="-108"/>
      </p:cViewPr>
      <p:guideLst>
        <p:guide orient="horz" pos="3155"/>
        <p:guide pos="216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0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03" tIns="47201" rIns="94403" bIns="4720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2075" y="0"/>
            <a:ext cx="29860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03" tIns="47201" rIns="94403" bIns="4720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18650"/>
            <a:ext cx="29860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03" tIns="47201" rIns="94403" bIns="4720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2075" y="9518650"/>
            <a:ext cx="29860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03" tIns="47201" rIns="94403" bIns="4720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3620B9D-11F0-4E8D-90EF-7B2020EA8459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0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03" tIns="47201" rIns="94403" bIns="4720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2075" y="0"/>
            <a:ext cx="29860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03" tIns="47201" rIns="94403" bIns="4720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0888"/>
            <a:ext cx="5011737" cy="3759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9163" y="4759325"/>
            <a:ext cx="5049837" cy="451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03" tIns="47201" rIns="94403" bIns="472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18650"/>
            <a:ext cx="29860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03" tIns="47201" rIns="94403" bIns="4720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2075" y="9518650"/>
            <a:ext cx="2986088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03" tIns="47201" rIns="94403" bIns="4720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8BF2C4FE-43C0-4E5C-AE04-2410306CA4EC}" type="slidenum">
              <a:rPr lang="en-US" altLang="id-ID"/>
              <a:pPr/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d-ID" altLang="id-ID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04BA546-1A0A-40A2-92B1-C2FC548DDD25}" type="slidenum">
              <a:rPr lang="en-US" altLang="id-ID" sz="1200"/>
              <a:pPr/>
              <a:t>3</a:t>
            </a:fld>
            <a:endParaRPr lang="en-US" altLang="id-ID" sz="1200"/>
          </a:p>
        </p:txBody>
      </p:sp>
      <p:sp>
        <p:nvSpPr>
          <p:cNvPr id="5125" name="Date Placeholder 4"/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id-ID" altLang="id-ID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696848-A7B0-4A5D-892B-6F008D4721DA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398945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A0C9D-53E0-4BAA-8E30-F32002912FB2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002048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362499-2ECB-4F69-8C36-4C91A5E6BA98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600582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BBF58E-8821-4ADA-9EA1-B5384B6135E5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4213391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CC7D85-3311-4D26-B989-AF405AF5B79B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109434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64A076-40E7-4A80-9DDA-D0A4785F7C4B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692887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47D40F-2ADE-4B67-A14D-02C231DB71C9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41538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CD281-4B57-4CAF-8379-28F38B6B260A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79272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3E5CFC-E2AB-4340-820A-71D87AE1AA9D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53873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E722A-221A-485B-BFDC-7A8270D5CF58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3161805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517059-0470-490C-B404-C15D7BFA810B}" type="slidenum">
              <a:rPr lang="en-US" altLang="id-ID"/>
              <a:pPr/>
              <a:t>‹#›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89168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d-ID"/>
              <a:t>Click to edit Master text styles</a:t>
            </a:r>
          </a:p>
          <a:p>
            <a:pPr lvl="1"/>
            <a:r>
              <a:rPr lang="en-US" altLang="id-ID"/>
              <a:t>Second level</a:t>
            </a:r>
          </a:p>
          <a:p>
            <a:pPr lvl="2"/>
            <a:r>
              <a:rPr lang="en-US" altLang="id-ID"/>
              <a:t>Third level</a:t>
            </a:r>
          </a:p>
          <a:p>
            <a:pPr lvl="3"/>
            <a:r>
              <a:rPr lang="en-US" altLang="id-ID"/>
              <a:t>Fourth level</a:t>
            </a:r>
          </a:p>
          <a:p>
            <a:pPr lvl="4"/>
            <a:r>
              <a:rPr lang="en-US" altLang="id-ID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fld id="{E6D6FB11-A0BE-4D96-B673-D0B3AAB96178}" type="slidenum">
              <a:rPr lang="en-US" altLang="id-ID"/>
              <a:pPr/>
              <a:t>‹#›</a:t>
            </a:fld>
            <a:endParaRPr lang="en-US" alt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2" r:id="rId1"/>
    <p:sldLayoutId id="2147483843" r:id="rId2"/>
    <p:sldLayoutId id="2147483844" r:id="rId3"/>
    <p:sldLayoutId id="2147483845" r:id="rId4"/>
    <p:sldLayoutId id="2147483846" r:id="rId5"/>
    <p:sldLayoutId id="2147483847" r:id="rId6"/>
    <p:sldLayoutId id="2147483848" r:id="rId7"/>
    <p:sldLayoutId id="2147483849" r:id="rId8"/>
    <p:sldLayoutId id="2147483850" r:id="rId9"/>
    <p:sldLayoutId id="2147483851" r:id="rId10"/>
    <p:sldLayoutId id="2147483852" r:id="rId11"/>
  </p:sldLayoutIdLst>
  <p:hf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057400"/>
            <a:ext cx="7886700" cy="1325563"/>
          </a:xfrm>
        </p:spPr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STRUKTUR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0C9D-53E0-4BAA-8E30-F32002912FB2}" type="slidenum">
              <a:rPr lang="en-US" altLang="id-ID" smtClean="0"/>
              <a:pPr/>
              <a:t>1</a:t>
            </a:fld>
            <a:endParaRPr lang="en-US" altLang="id-ID"/>
          </a:p>
        </p:txBody>
      </p:sp>
      <p:sp>
        <p:nvSpPr>
          <p:cNvPr id="3" name="Rectangle 2"/>
          <p:cNvSpPr/>
          <p:nvPr/>
        </p:nvSpPr>
        <p:spPr>
          <a:xfrm>
            <a:off x="1539887" y="2057400"/>
            <a:ext cx="60642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STRUKTUR DATA</a:t>
            </a:r>
          </a:p>
        </p:txBody>
      </p:sp>
    </p:spTree>
    <p:extLst>
      <p:ext uri="{BB962C8B-B14F-4D97-AF65-F5344CB8AC3E}">
        <p14:creationId xmlns:p14="http://schemas.microsoft.com/office/powerpoint/2010/main" val="2413823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701675"/>
          </a:xfrm>
        </p:spPr>
        <p:txBody>
          <a:bodyPr/>
          <a:lstStyle/>
          <a:p>
            <a:r>
              <a:rPr lang="en-US" dirty="0" err="1"/>
              <a:t>Pengantar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39825"/>
            <a:ext cx="1123950" cy="612775"/>
          </a:xfrm>
        </p:spPr>
        <p:txBody>
          <a:bodyPr/>
          <a:lstStyle/>
          <a:p>
            <a:r>
              <a:rPr lang="en-US" sz="2400" dirty="0"/>
              <a:t>Data:</a:t>
            </a:r>
          </a:p>
          <a:p>
            <a:pPr lvl="1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0C9D-53E0-4BAA-8E30-F32002912FB2}" type="slidenum">
              <a:rPr lang="en-US" altLang="id-ID" smtClean="0"/>
              <a:pPr/>
              <a:t>2</a:t>
            </a:fld>
            <a:endParaRPr lang="en-US" altLang="id-ID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146369"/>
              </p:ext>
            </p:extLst>
          </p:nvPr>
        </p:nvGraphicFramePr>
        <p:xfrm>
          <a:off x="1578429" y="1676400"/>
          <a:ext cx="3069771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630">
                  <a:extLst>
                    <a:ext uri="{9D8B030D-6E8A-4147-A177-3AD203B41FA5}">
                      <a16:colId xmlns:a16="http://schemas.microsoft.com/office/drawing/2014/main" val="3500892546"/>
                    </a:ext>
                  </a:extLst>
                </a:gridCol>
                <a:gridCol w="1458141">
                  <a:extLst>
                    <a:ext uri="{9D8B030D-6E8A-4147-A177-3AD203B41FA5}">
                      <a16:colId xmlns:a16="http://schemas.microsoft.com/office/drawing/2014/main" val="2783438809"/>
                    </a:ext>
                  </a:extLst>
                </a:gridCol>
              </a:tblGrid>
              <a:tr h="370114">
                <a:tc>
                  <a:txBody>
                    <a:bodyPr/>
                    <a:lstStyle/>
                    <a:p>
                      <a:r>
                        <a:rPr lang="en-US" sz="2400" dirty="0"/>
                        <a:t>Nama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UAS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456828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r>
                        <a:rPr lang="en-US" sz="2400" dirty="0" err="1"/>
                        <a:t>Palui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2815477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r>
                        <a:rPr lang="en-US" sz="2400" dirty="0" err="1"/>
                        <a:t>Garbus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57221"/>
                  </a:ext>
                </a:extLst>
              </a:tr>
            </a:tbl>
          </a:graphicData>
        </a:graphic>
      </p:graphicFrame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09600" y="3429000"/>
            <a:ext cx="516255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disimpan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struktur</a:t>
            </a:r>
            <a:r>
              <a:rPr lang="en-US" sz="2400" dirty="0"/>
              <a:t> List:</a:t>
            </a:r>
          </a:p>
          <a:p>
            <a:pPr lvl="1"/>
            <a:endParaRPr lang="en-US" sz="20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1123950" y="3962400"/>
            <a:ext cx="4009724" cy="58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Data= [‘</a:t>
            </a:r>
            <a:r>
              <a:rPr lang="en-US" sz="2400" dirty="0" err="1"/>
              <a:t>Palui</a:t>
            </a:r>
            <a:r>
              <a:rPr lang="en-US" sz="2400" dirty="0"/>
              <a:t>’, 75, ’</a:t>
            </a:r>
            <a:r>
              <a:rPr lang="en-US" sz="2400" dirty="0" err="1"/>
              <a:t>Garbus</a:t>
            </a:r>
            <a:r>
              <a:rPr lang="en-US" sz="2400" dirty="0"/>
              <a:t>’, 80]</a:t>
            </a:r>
          </a:p>
          <a:p>
            <a:pPr lvl="1"/>
            <a:endParaRPr lang="en-US" sz="20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1123950" y="4416425"/>
            <a:ext cx="4800600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Data= [[‘</a:t>
            </a:r>
            <a:r>
              <a:rPr lang="en-US" sz="2400" dirty="0" err="1"/>
              <a:t>Palui</a:t>
            </a:r>
            <a:r>
              <a:rPr lang="en-US" sz="2400" dirty="0"/>
              <a:t>’, 75], [’</a:t>
            </a:r>
            <a:r>
              <a:rPr lang="en-US" sz="2400" dirty="0" err="1"/>
              <a:t>Garbus</a:t>
            </a:r>
            <a:r>
              <a:rPr lang="en-US" sz="2400" dirty="0"/>
              <a:t>’, 80]]</a:t>
            </a:r>
          </a:p>
          <a:p>
            <a:pPr lvl="1"/>
            <a:endParaRPr lang="en-US" sz="2000" dirty="0"/>
          </a:p>
        </p:txBody>
      </p:sp>
      <p:sp>
        <p:nvSpPr>
          <p:cNvPr id="9" name="Oval 8"/>
          <p:cNvSpPr/>
          <p:nvPr/>
        </p:nvSpPr>
        <p:spPr>
          <a:xfrm>
            <a:off x="1847850" y="5105400"/>
            <a:ext cx="5467350" cy="113982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keterangan</a:t>
            </a:r>
            <a:r>
              <a:rPr lang="en-US" dirty="0"/>
              <a:t>/ </a:t>
            </a:r>
            <a:r>
              <a:rPr lang="en-US" dirty="0" err="1"/>
              <a:t>identitas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268615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1173163" y="304800"/>
            <a:ext cx="3932237" cy="1189038"/>
          </a:xfrm>
        </p:spPr>
        <p:txBody>
          <a:bodyPr/>
          <a:lstStyle/>
          <a:p>
            <a:pPr eaLnBrk="1" hangingPunct="1"/>
            <a:r>
              <a:rPr lang="en-US" altLang="id-ID" dirty="0">
                <a:solidFill>
                  <a:srgbClr val="FF0000"/>
                </a:solidFill>
              </a:rPr>
              <a:t>D</a:t>
            </a:r>
            <a:r>
              <a:rPr lang="en-US" altLang="id-ID" dirty="0"/>
              <a:t>ICTIONARY</a:t>
            </a:r>
          </a:p>
        </p:txBody>
      </p:sp>
      <p:sp>
        <p:nvSpPr>
          <p:cNvPr id="4099" name="Rectangle 29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fld id="{FE29F616-5D35-4634-8F01-A367143AB099}" type="slidenum">
              <a:rPr lang="en-US" altLang="id-ID" sz="1400">
                <a:solidFill>
                  <a:srgbClr val="000000"/>
                </a:solidFill>
                <a:latin typeface="Arial" panose="020B0604020202020204" pitchFamily="34" charset="0"/>
              </a:rPr>
              <a:pPr>
                <a:spcBef>
                  <a:spcPct val="50000"/>
                </a:spcBef>
              </a:pPr>
              <a:t>3</a:t>
            </a:fld>
            <a:endParaRPr lang="en-US" altLang="id-ID" sz="14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1828800"/>
            <a:ext cx="76962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2E2E2E"/>
                </a:solidFill>
                <a:effectLst/>
                <a:latin typeface="asap"/>
              </a:rPr>
              <a:t> tipe data </a:t>
            </a:r>
            <a:r>
              <a:rPr lang="pt-BR" b="0" i="1" dirty="0">
                <a:solidFill>
                  <a:srgbClr val="2E2E2E"/>
                </a:solidFill>
                <a:effectLst/>
                <a:latin typeface="asap"/>
              </a:rPr>
              <a:t>Sequence</a:t>
            </a:r>
            <a:r>
              <a:rPr lang="pt-BR" b="0" i="0" dirty="0">
                <a:solidFill>
                  <a:srgbClr val="2E2E2E"/>
                </a:solidFill>
                <a:effectLst/>
                <a:latin typeface="asap"/>
              </a:rPr>
              <a:t> yang ter-index.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anggotanya</a:t>
            </a:r>
            <a:r>
              <a:rPr lang="en-US" dirty="0"/>
              <a:t> </a:t>
            </a:r>
            <a:r>
              <a:rPr lang="en-US" dirty="0" err="1"/>
              <a:t>berisi</a:t>
            </a:r>
            <a:r>
              <a:rPr lang="en-US" dirty="0"/>
              <a:t> </a:t>
            </a:r>
            <a:r>
              <a:rPr lang="en-US" b="1" dirty="0"/>
              <a:t>key</a:t>
            </a:r>
            <a:r>
              <a:rPr lang="en-US" dirty="0"/>
              <a:t> </a:t>
            </a:r>
            <a:r>
              <a:rPr lang="en-US" dirty="0" err="1"/>
              <a:t>dan</a:t>
            </a:r>
            <a:r>
              <a:rPr lang="en-US" dirty="0"/>
              <a:t> </a:t>
            </a:r>
            <a:r>
              <a:rPr lang="en-US" b="1" dirty="0"/>
              <a:t>value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Key</a:t>
            </a:r>
            <a:r>
              <a:rPr lang="en-US" dirty="0"/>
              <a:t>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 err="1"/>
              <a:t>identitas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dictionary.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 err="1"/>
              <a:t>Tipe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</a:t>
            </a:r>
            <a:r>
              <a:rPr lang="en-US" dirty="0" err="1"/>
              <a:t>tetap</a:t>
            </a:r>
            <a:r>
              <a:rPr lang="en-US" dirty="0"/>
              <a:t>,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diubah</a:t>
            </a:r>
            <a:endParaRPr lang="en-US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 err="1"/>
              <a:t>Setiap</a:t>
            </a:r>
            <a:r>
              <a:rPr lang="en-US" dirty="0"/>
              <a:t> dictionary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memuat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Key yang </a:t>
            </a:r>
            <a:r>
              <a:rPr lang="en-US" dirty="0" err="1"/>
              <a:t>sama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Value</a:t>
            </a:r>
            <a:r>
              <a:rPr lang="en-US" dirty="0"/>
              <a:t>: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yang </a:t>
            </a:r>
            <a:r>
              <a:rPr lang="en-US" dirty="0" err="1"/>
              <a:t>berkaitan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Didefinisikan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bantuan</a:t>
            </a:r>
            <a:r>
              <a:rPr lang="en-US" dirty="0"/>
              <a:t> </a:t>
            </a:r>
            <a:r>
              <a:rPr lang="en-US" dirty="0" err="1"/>
              <a:t>tanda</a:t>
            </a:r>
            <a:r>
              <a:rPr lang="en-US" dirty="0"/>
              <a:t> </a:t>
            </a:r>
            <a:r>
              <a:rPr lang="en-US" b="1" dirty="0"/>
              <a:t>{}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keyword </a:t>
            </a:r>
            <a:r>
              <a:rPr lang="en-US" b="1" dirty="0" err="1"/>
              <a:t>dic</a:t>
            </a:r>
            <a:r>
              <a:rPr lang="en-US" b="1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66FF"/>
                </a:solidFill>
              </a:rPr>
              <a:t>M</a:t>
            </a:r>
            <a:r>
              <a:rPr lang="en-US" dirty="0"/>
              <a:t>EMBUAT </a:t>
            </a:r>
            <a:r>
              <a:rPr lang="en-US" dirty="0">
                <a:solidFill>
                  <a:srgbClr val="3366FF"/>
                </a:solidFill>
              </a:rPr>
              <a:t>D</a:t>
            </a:r>
            <a:r>
              <a:rPr lang="en-US" dirty="0"/>
              <a:t>ICTIONARY </a:t>
            </a:r>
            <a:r>
              <a:rPr lang="en-US" dirty="0">
                <a:solidFill>
                  <a:srgbClr val="3366FF"/>
                </a:solidFill>
              </a:rPr>
              <a:t>B</a:t>
            </a:r>
            <a:r>
              <a:rPr lang="en-US" dirty="0"/>
              <a:t>ARU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/>
          <a:lstStyle/>
          <a:p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inisialisasi</a:t>
            </a:r>
            <a:endParaRPr lang="en-US" sz="2800" dirty="0"/>
          </a:p>
          <a:p>
            <a:pPr lvl="1"/>
            <a:r>
              <a:rPr lang="en-US" sz="2800" dirty="0"/>
              <a:t> Cara 1 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id-ID" altLang="id-ID" sz="2800" dirty="0"/>
              <a:t>D</a:t>
            </a:r>
            <a:r>
              <a:rPr lang="en-US" altLang="id-ID" sz="2800" dirty="0" err="1"/>
              <a:t>ata</a:t>
            </a:r>
            <a:r>
              <a:rPr lang="en-US" altLang="id-ID" sz="2800" dirty="0"/>
              <a:t>={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 sz="2800" dirty="0"/>
              <a:t>    </a:t>
            </a:r>
            <a:r>
              <a:rPr lang="en-US" altLang="id-ID" sz="2800" dirty="0">
                <a:solidFill>
                  <a:srgbClr val="00B050"/>
                </a:solidFill>
              </a:rPr>
              <a:t>“Nama”: “</a:t>
            </a:r>
            <a:r>
              <a:rPr lang="en-US" altLang="id-ID" sz="2800" dirty="0" err="1">
                <a:solidFill>
                  <a:srgbClr val="00B050"/>
                </a:solidFill>
              </a:rPr>
              <a:t>Palui</a:t>
            </a:r>
            <a:r>
              <a:rPr lang="en-US" altLang="id-ID" sz="2800" dirty="0">
                <a:solidFill>
                  <a:srgbClr val="00B050"/>
                </a:solidFill>
              </a:rPr>
              <a:t>”</a:t>
            </a:r>
            <a:r>
              <a:rPr lang="en-US" altLang="id-ID" sz="2800" dirty="0"/>
              <a:t>,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 sz="2800" dirty="0">
                <a:solidFill>
                  <a:srgbClr val="00B050"/>
                </a:solidFill>
              </a:rPr>
              <a:t>    “UAS”</a:t>
            </a:r>
            <a:r>
              <a:rPr lang="en-US" altLang="id-ID" sz="2800" dirty="0"/>
              <a:t>: 98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id-ID" sz="2800" dirty="0"/>
              <a:t>}</a:t>
            </a:r>
            <a:endParaRPr lang="en-US" sz="2800" dirty="0"/>
          </a:p>
          <a:p>
            <a:pPr marL="685800" lvl="2" indent="0">
              <a:buNone/>
            </a:pPr>
            <a:endParaRPr lang="en-US" sz="2800" dirty="0"/>
          </a:p>
          <a:p>
            <a:pPr lvl="1"/>
            <a:r>
              <a:rPr lang="en-US" sz="2800" dirty="0"/>
              <a:t> Cara 2 </a:t>
            </a:r>
          </a:p>
          <a:p>
            <a:pPr marL="685800" lvl="2" indent="0">
              <a:buNone/>
            </a:pPr>
            <a:r>
              <a:rPr lang="en-US" sz="2800" dirty="0"/>
              <a:t>Data1={</a:t>
            </a:r>
            <a:r>
              <a:rPr lang="en-US" sz="2800" dirty="0">
                <a:solidFill>
                  <a:srgbClr val="00B050"/>
                </a:solidFill>
              </a:rPr>
              <a:t>“</a:t>
            </a:r>
            <a:r>
              <a:rPr lang="en-US" sz="2800" dirty="0" err="1">
                <a:solidFill>
                  <a:srgbClr val="00B050"/>
                </a:solidFill>
              </a:rPr>
              <a:t>Bahan</a:t>
            </a:r>
            <a:r>
              <a:rPr lang="en-US" sz="2800" dirty="0">
                <a:solidFill>
                  <a:srgbClr val="00B050"/>
                </a:solidFill>
              </a:rPr>
              <a:t>"</a:t>
            </a:r>
            <a:r>
              <a:rPr lang="en-US" sz="2800" dirty="0"/>
              <a:t>: </a:t>
            </a:r>
            <a:r>
              <a:rPr lang="en-US" sz="2800" dirty="0">
                <a:solidFill>
                  <a:srgbClr val="00B050"/>
                </a:solidFill>
              </a:rPr>
              <a:t>“</a:t>
            </a:r>
            <a:r>
              <a:rPr lang="en-US" sz="2800" dirty="0" err="1">
                <a:solidFill>
                  <a:srgbClr val="00B050"/>
                </a:solidFill>
              </a:rPr>
              <a:t>Timah</a:t>
            </a:r>
            <a:r>
              <a:rPr lang="en-US" sz="2800" dirty="0">
                <a:solidFill>
                  <a:srgbClr val="00B050"/>
                </a:solidFill>
              </a:rPr>
              <a:t>"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B050"/>
                </a:solidFill>
              </a:rPr>
              <a:t>“</a:t>
            </a:r>
            <a:r>
              <a:rPr lang="en-US" sz="2800" dirty="0" err="1">
                <a:solidFill>
                  <a:srgbClr val="00B050"/>
                </a:solidFill>
              </a:rPr>
              <a:t>KonsP</a:t>
            </a:r>
            <a:r>
              <a:rPr lang="en-US" sz="2800" dirty="0">
                <a:solidFill>
                  <a:srgbClr val="00B050"/>
                </a:solidFill>
              </a:rPr>
              <a:t>"</a:t>
            </a:r>
            <a:r>
              <a:rPr lang="en-US" sz="2800" dirty="0"/>
              <a:t>: 0.000029}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0C9D-53E0-4BAA-8E30-F32002912FB2}" type="slidenum">
              <a:rPr lang="en-US" altLang="id-ID" smtClean="0"/>
              <a:pPr/>
              <a:t>4</a:t>
            </a:fld>
            <a:endParaRPr lang="en-US" altLang="id-ID"/>
          </a:p>
        </p:txBody>
      </p:sp>
      <p:sp>
        <p:nvSpPr>
          <p:cNvPr id="5" name="Content Placeholder 2"/>
          <p:cNvSpPr txBox="1">
            <a:spLocks noChangeArrowheads="1"/>
          </p:cNvSpPr>
          <p:nvPr/>
        </p:nvSpPr>
        <p:spPr bwMode="auto">
          <a:xfrm>
            <a:off x="5292291" y="3202304"/>
            <a:ext cx="3559629" cy="60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87375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altLang="id-ID" sz="2000" dirty="0">
                <a:solidFill>
                  <a:srgbClr val="FF0000"/>
                </a:solidFill>
              </a:rPr>
              <a:t>#Key : Nama, </a:t>
            </a:r>
            <a:r>
              <a:rPr lang="en-US" altLang="id-ID" sz="2000" dirty="0" err="1">
                <a:solidFill>
                  <a:srgbClr val="FF0000"/>
                </a:solidFill>
              </a:rPr>
              <a:t>Nilai</a:t>
            </a:r>
            <a:r>
              <a:rPr lang="en-US" altLang="id-ID" sz="2000" dirty="0">
                <a:solidFill>
                  <a:srgbClr val="FF0000"/>
                </a:solidFill>
              </a:rPr>
              <a:t>: </a:t>
            </a:r>
            <a:r>
              <a:rPr lang="en-US" altLang="id-ID" sz="2000" dirty="0" err="1">
                <a:solidFill>
                  <a:srgbClr val="FF0000"/>
                </a:solidFill>
              </a:rPr>
              <a:t>Palui</a:t>
            </a:r>
            <a:endParaRPr lang="id-ID" altLang="id-ID" sz="2000" dirty="0">
              <a:solidFill>
                <a:srgbClr val="FF0000"/>
              </a:solidFill>
            </a:endParaRPr>
          </a:p>
        </p:txBody>
      </p:sp>
      <p:sp>
        <p:nvSpPr>
          <p:cNvPr id="6" name="Content Placeholder 2"/>
          <p:cNvSpPr txBox="1">
            <a:spLocks noChangeArrowheads="1"/>
          </p:cNvSpPr>
          <p:nvPr/>
        </p:nvSpPr>
        <p:spPr bwMode="auto">
          <a:xfrm>
            <a:off x="5279571" y="3581400"/>
            <a:ext cx="3559629" cy="60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87375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altLang="id-ID" sz="2000" dirty="0">
                <a:solidFill>
                  <a:srgbClr val="FF0000"/>
                </a:solidFill>
              </a:rPr>
              <a:t>#Key : UAS, </a:t>
            </a:r>
            <a:r>
              <a:rPr lang="en-US" altLang="id-ID" sz="2000" dirty="0" err="1">
                <a:solidFill>
                  <a:srgbClr val="FF0000"/>
                </a:solidFill>
              </a:rPr>
              <a:t>Nilai</a:t>
            </a:r>
            <a:r>
              <a:rPr lang="en-US" altLang="id-ID" sz="2000" dirty="0">
                <a:solidFill>
                  <a:srgbClr val="FF0000"/>
                </a:solidFill>
              </a:rPr>
              <a:t>: 98</a:t>
            </a:r>
            <a:endParaRPr lang="id-ID" altLang="id-ID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378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366FF"/>
                </a:solidFill>
              </a:rPr>
              <a:t>M</a:t>
            </a:r>
            <a:r>
              <a:rPr lang="en-US" dirty="0"/>
              <a:t>EMBUAT </a:t>
            </a:r>
            <a:r>
              <a:rPr lang="en-US" dirty="0">
                <a:solidFill>
                  <a:srgbClr val="3366FF"/>
                </a:solidFill>
              </a:rPr>
              <a:t>D</a:t>
            </a:r>
            <a:r>
              <a:rPr lang="en-US" dirty="0"/>
              <a:t>ICTIONARY </a:t>
            </a:r>
            <a:r>
              <a:rPr lang="en-US" dirty="0">
                <a:solidFill>
                  <a:srgbClr val="3366FF"/>
                </a:solidFill>
              </a:rPr>
              <a:t>B</a:t>
            </a:r>
            <a:r>
              <a:rPr lang="en-US" dirty="0"/>
              <a:t>ARU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753350" cy="2746375"/>
          </a:xfrm>
        </p:spPr>
        <p:txBody>
          <a:bodyPr/>
          <a:lstStyle/>
          <a:p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inisialisasi:Penggunaan</a:t>
            </a:r>
            <a:r>
              <a:rPr lang="en-US" sz="2800" dirty="0"/>
              <a:t> keyword </a:t>
            </a:r>
            <a:r>
              <a:rPr lang="en-US" sz="2800" dirty="0" err="1"/>
              <a:t>dict</a:t>
            </a:r>
            <a:r>
              <a:rPr lang="en-US" sz="2800" dirty="0"/>
              <a:t> </a:t>
            </a:r>
          </a:p>
          <a:p>
            <a:pPr lvl="1"/>
            <a:r>
              <a:rPr lang="en-US" sz="2800" dirty="0"/>
              <a:t>Cara 3 </a:t>
            </a:r>
          </a:p>
          <a:p>
            <a:pPr marL="685800" lvl="2" indent="0">
              <a:buNone/>
            </a:pPr>
            <a:r>
              <a:rPr lang="en-US" sz="2800" dirty="0"/>
              <a:t>s=[[</a:t>
            </a:r>
            <a:r>
              <a:rPr lang="en-US" sz="2800" dirty="0">
                <a:solidFill>
                  <a:srgbClr val="92D050"/>
                </a:solidFill>
              </a:rPr>
              <a:t>'Nama'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92D050"/>
                </a:solidFill>
              </a:rPr>
              <a:t>‘</a:t>
            </a:r>
            <a:r>
              <a:rPr lang="en-US" sz="2800" dirty="0" err="1">
                <a:solidFill>
                  <a:srgbClr val="92D050"/>
                </a:solidFill>
              </a:rPr>
              <a:t>Palui</a:t>
            </a:r>
            <a:r>
              <a:rPr lang="en-US" sz="2800" dirty="0">
                <a:solidFill>
                  <a:srgbClr val="92D050"/>
                </a:solidFill>
              </a:rPr>
              <a:t>'</a:t>
            </a:r>
            <a:r>
              <a:rPr lang="en-US" sz="2800" dirty="0"/>
              <a:t>],[</a:t>
            </a:r>
            <a:r>
              <a:rPr lang="en-US" sz="2800" dirty="0">
                <a:solidFill>
                  <a:srgbClr val="92D050"/>
                </a:solidFill>
              </a:rPr>
              <a:t>'UAS'</a:t>
            </a:r>
            <a:r>
              <a:rPr lang="en-US" sz="2800" dirty="0"/>
              <a:t>, 90]] </a:t>
            </a:r>
          </a:p>
          <a:p>
            <a:pPr marL="685800" lvl="2" indent="0">
              <a:buNone/>
            </a:pPr>
            <a:r>
              <a:rPr lang="en-US" sz="2800" dirty="0"/>
              <a:t>Data=</a:t>
            </a:r>
            <a:r>
              <a:rPr lang="en-US" sz="2800" dirty="0" err="1">
                <a:solidFill>
                  <a:srgbClr val="7030A0"/>
                </a:solidFill>
              </a:rPr>
              <a:t>dict</a:t>
            </a:r>
            <a:r>
              <a:rPr lang="en-US" sz="2800" dirty="0"/>
              <a:t>(s) </a:t>
            </a:r>
          </a:p>
          <a:p>
            <a:pPr lvl="1"/>
            <a:r>
              <a:rPr lang="en-US" sz="2800" dirty="0"/>
              <a:t>Cara 4 </a:t>
            </a:r>
          </a:p>
          <a:p>
            <a:pPr marL="685800" lvl="2" indent="0">
              <a:buNone/>
            </a:pPr>
            <a:r>
              <a:rPr lang="en-US" sz="2800" dirty="0"/>
              <a:t>Data=</a:t>
            </a:r>
            <a:r>
              <a:rPr lang="en-US" sz="2800" dirty="0" err="1">
                <a:solidFill>
                  <a:srgbClr val="7030A0"/>
                </a:solidFill>
              </a:rPr>
              <a:t>dict</a:t>
            </a:r>
            <a:r>
              <a:rPr lang="en-US" sz="2800" dirty="0"/>
              <a:t>(Nama=</a:t>
            </a:r>
            <a:r>
              <a:rPr lang="en-US" sz="2800" dirty="0">
                <a:solidFill>
                  <a:srgbClr val="92D050"/>
                </a:solidFill>
              </a:rPr>
              <a:t>‘</a:t>
            </a:r>
            <a:r>
              <a:rPr lang="en-US" sz="2800" dirty="0" err="1">
                <a:solidFill>
                  <a:srgbClr val="92D050"/>
                </a:solidFill>
              </a:rPr>
              <a:t>Palui</a:t>
            </a:r>
            <a:r>
              <a:rPr lang="en-US" sz="2800" dirty="0">
                <a:solidFill>
                  <a:srgbClr val="92D050"/>
                </a:solidFill>
              </a:rPr>
              <a:t>'</a:t>
            </a:r>
            <a:r>
              <a:rPr lang="en-US" sz="2800" dirty="0"/>
              <a:t>, UAS=90)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0C9D-53E0-4BAA-8E30-F32002912FB2}" type="slidenum">
              <a:rPr lang="en-US" altLang="id-ID" smtClean="0"/>
              <a:pPr/>
              <a:t>5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82211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MEMBUAT DICTIONARY BARU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266" y="1447800"/>
            <a:ext cx="7975333" cy="5029200"/>
          </a:xfrm>
        </p:spPr>
        <p:txBody>
          <a:bodyPr/>
          <a:lstStyle/>
          <a:p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inputan</a:t>
            </a:r>
            <a:endParaRPr lang="en-US" sz="2800" dirty="0"/>
          </a:p>
          <a:p>
            <a:pPr lvl="1"/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Cara 1: Key </a:t>
            </a:r>
            <a:r>
              <a:rPr lang="en-US" sz="2800" dirty="0" err="1">
                <a:solidFill>
                  <a:srgbClr val="FF0000"/>
                </a:solidFill>
              </a:rPr>
              <a:t>sudah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diketahui</a:t>
            </a:r>
            <a:endParaRPr lang="en-US" sz="2800" dirty="0">
              <a:solidFill>
                <a:srgbClr val="FF0000"/>
              </a:solidFill>
            </a:endParaRPr>
          </a:p>
          <a:p>
            <a:pPr marL="1028700" lvl="3" indent="0">
              <a:buNone/>
            </a:pPr>
            <a:r>
              <a:rPr lang="en-US" sz="2800" dirty="0"/>
              <a:t>Data2={} </a:t>
            </a:r>
          </a:p>
          <a:p>
            <a:pPr marL="1028700" lvl="3" indent="0">
              <a:buNone/>
            </a:pPr>
            <a:r>
              <a:rPr lang="en-US" sz="2800" dirty="0"/>
              <a:t>Data2[</a:t>
            </a:r>
            <a:r>
              <a:rPr lang="en-US" sz="2800" dirty="0">
                <a:solidFill>
                  <a:srgbClr val="00B050"/>
                </a:solidFill>
              </a:rPr>
              <a:t>'Nama'</a:t>
            </a:r>
            <a:r>
              <a:rPr lang="en-US" sz="2800" dirty="0"/>
              <a:t>]=</a:t>
            </a:r>
            <a:r>
              <a:rPr lang="en-US" sz="2800" dirty="0">
                <a:solidFill>
                  <a:srgbClr val="7030A0"/>
                </a:solidFill>
              </a:rPr>
              <a:t>input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00B050"/>
                </a:solidFill>
              </a:rPr>
              <a:t>"Nama="</a:t>
            </a:r>
            <a:r>
              <a:rPr lang="en-US" sz="2800" dirty="0"/>
              <a:t>)</a:t>
            </a:r>
          </a:p>
          <a:p>
            <a:pPr marL="1028700" lvl="3" indent="0">
              <a:buNone/>
            </a:pPr>
            <a:r>
              <a:rPr lang="en-US" sz="2800" dirty="0"/>
              <a:t>Data2[</a:t>
            </a:r>
            <a:r>
              <a:rPr lang="en-US" sz="2800" dirty="0">
                <a:solidFill>
                  <a:srgbClr val="00B050"/>
                </a:solidFill>
              </a:rPr>
              <a:t>'UAS'</a:t>
            </a:r>
            <a:r>
              <a:rPr lang="en-US" sz="2800" dirty="0"/>
              <a:t>]=</a:t>
            </a:r>
            <a:r>
              <a:rPr lang="en-US" sz="2800" dirty="0" err="1">
                <a:solidFill>
                  <a:srgbClr val="7030A0"/>
                </a:solidFill>
              </a:rPr>
              <a:t>int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7030A0"/>
                </a:solidFill>
              </a:rPr>
              <a:t>input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00B050"/>
                </a:solidFill>
              </a:rPr>
              <a:t>"UAS="</a:t>
            </a:r>
            <a:r>
              <a:rPr lang="en-US" sz="2800" dirty="0"/>
              <a:t>))</a:t>
            </a:r>
          </a:p>
          <a:p>
            <a:pPr lvl="1"/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Cara 2: Key </a:t>
            </a:r>
            <a:r>
              <a:rPr lang="en-US" sz="2800" dirty="0" err="1">
                <a:solidFill>
                  <a:srgbClr val="FF0000"/>
                </a:solidFill>
              </a:rPr>
              <a:t>belum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diketahui</a:t>
            </a:r>
            <a:r>
              <a:rPr lang="en-US" sz="2800" dirty="0"/>
              <a:t> </a:t>
            </a:r>
          </a:p>
          <a:p>
            <a:pPr marL="1028700" lvl="3" indent="0">
              <a:buNone/>
            </a:pPr>
            <a:r>
              <a:rPr lang="en-US" sz="2800" dirty="0"/>
              <a:t>Data={}</a:t>
            </a:r>
          </a:p>
          <a:p>
            <a:pPr marL="1028700" lvl="3" indent="0">
              <a:buNone/>
            </a:pPr>
            <a:r>
              <a:rPr lang="en-US" sz="2800" dirty="0"/>
              <a:t>k=</a:t>
            </a:r>
            <a:r>
              <a:rPr lang="en-US" sz="2800" dirty="0" err="1">
                <a:solidFill>
                  <a:srgbClr val="7030A0"/>
                </a:solidFill>
              </a:rPr>
              <a:t>int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7030A0"/>
                </a:solidFill>
              </a:rPr>
              <a:t>input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00B050"/>
                </a:solidFill>
              </a:rPr>
              <a:t>'</a:t>
            </a:r>
            <a:r>
              <a:rPr lang="en-US" sz="2800" dirty="0" err="1">
                <a:solidFill>
                  <a:srgbClr val="00B050"/>
                </a:solidFill>
              </a:rPr>
              <a:t>banyak</a:t>
            </a:r>
            <a:r>
              <a:rPr lang="en-US" sz="2800" dirty="0">
                <a:solidFill>
                  <a:srgbClr val="00B050"/>
                </a:solidFill>
              </a:rPr>
              <a:t> </a:t>
            </a:r>
            <a:r>
              <a:rPr lang="en-US" sz="2800" dirty="0" err="1">
                <a:solidFill>
                  <a:srgbClr val="00B050"/>
                </a:solidFill>
              </a:rPr>
              <a:t>kunci</a:t>
            </a:r>
            <a:r>
              <a:rPr lang="en-US" sz="2800" dirty="0">
                <a:solidFill>
                  <a:srgbClr val="00B050"/>
                </a:solidFill>
              </a:rPr>
              <a:t>='</a:t>
            </a:r>
            <a:r>
              <a:rPr lang="en-US" sz="2800" dirty="0"/>
              <a:t>))</a:t>
            </a:r>
          </a:p>
          <a:p>
            <a:pPr marL="1028700" lvl="3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for</a:t>
            </a:r>
            <a:r>
              <a:rPr lang="en-US" sz="2800" dirty="0"/>
              <a:t> </a:t>
            </a:r>
            <a:r>
              <a:rPr lang="en-US" sz="2800" dirty="0" err="1"/>
              <a:t>i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in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7030A0"/>
                </a:solidFill>
              </a:rPr>
              <a:t>range</a:t>
            </a:r>
            <a:r>
              <a:rPr lang="en-US" sz="2800" dirty="0"/>
              <a:t>(k):</a:t>
            </a:r>
          </a:p>
          <a:p>
            <a:pPr marL="1028700" lvl="3" indent="0">
              <a:buNone/>
            </a:pPr>
            <a:r>
              <a:rPr lang="en-US" sz="2800" dirty="0"/>
              <a:t>        </a:t>
            </a:r>
            <a:r>
              <a:rPr lang="en-US" sz="2800" dirty="0" err="1"/>
              <a:t>ki</a:t>
            </a:r>
            <a:r>
              <a:rPr lang="en-US" sz="2800" dirty="0"/>
              <a:t>=</a:t>
            </a:r>
            <a:r>
              <a:rPr lang="en-US" sz="2800" dirty="0">
                <a:solidFill>
                  <a:srgbClr val="7030A0"/>
                </a:solidFill>
              </a:rPr>
              <a:t>input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00B050"/>
                </a:solidFill>
              </a:rPr>
              <a:t>'</a:t>
            </a:r>
            <a:r>
              <a:rPr lang="en-US" sz="2800" dirty="0" err="1">
                <a:solidFill>
                  <a:srgbClr val="00B050"/>
                </a:solidFill>
              </a:rPr>
              <a:t>Kunci</a:t>
            </a:r>
            <a:r>
              <a:rPr lang="en-US" sz="2800" dirty="0">
                <a:solidFill>
                  <a:srgbClr val="00B050"/>
                </a:solidFill>
              </a:rPr>
              <a:t>='</a:t>
            </a:r>
            <a:r>
              <a:rPr lang="en-US" sz="2800" dirty="0"/>
              <a:t>)</a:t>
            </a:r>
          </a:p>
          <a:p>
            <a:pPr marL="1028700" lvl="3" indent="0">
              <a:buNone/>
            </a:pPr>
            <a:r>
              <a:rPr lang="en-US" sz="2800" dirty="0"/>
              <a:t>        Data[</a:t>
            </a:r>
            <a:r>
              <a:rPr lang="en-US" sz="2800" dirty="0" err="1"/>
              <a:t>ki</a:t>
            </a:r>
            <a:r>
              <a:rPr lang="en-US" sz="2800" dirty="0"/>
              <a:t>]=</a:t>
            </a:r>
            <a:r>
              <a:rPr lang="en-US" sz="2800" dirty="0">
                <a:solidFill>
                  <a:srgbClr val="7030A0"/>
                </a:solidFill>
              </a:rPr>
              <a:t>input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00B050"/>
                </a:solidFill>
              </a:rPr>
              <a:t>"</a:t>
            </a:r>
            <a:r>
              <a:rPr lang="en-US" sz="2800" dirty="0" err="1">
                <a:solidFill>
                  <a:srgbClr val="00B050"/>
                </a:solidFill>
              </a:rPr>
              <a:t>Nilai</a:t>
            </a:r>
            <a:r>
              <a:rPr lang="en-US" sz="2800" dirty="0">
                <a:solidFill>
                  <a:srgbClr val="00B050"/>
                </a:solidFill>
              </a:rPr>
              <a:t>="</a:t>
            </a:r>
            <a:r>
              <a:rPr lang="en-US" sz="28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0C9D-53E0-4BAA-8E30-F32002912FB2}" type="slidenum">
              <a:rPr lang="en-US" altLang="id-ID" smtClean="0"/>
              <a:pPr/>
              <a:t>6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1798869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628650" y="76200"/>
            <a:ext cx="7886700" cy="1325563"/>
          </a:xfrm>
        </p:spPr>
        <p:txBody>
          <a:bodyPr/>
          <a:lstStyle/>
          <a:p>
            <a:r>
              <a:rPr lang="en-US" altLang="id-ID" sz="3600" dirty="0" err="1">
                <a:solidFill>
                  <a:srgbClr val="FF0000"/>
                </a:solidFill>
              </a:rPr>
              <a:t>M</a:t>
            </a:r>
            <a:r>
              <a:rPr lang="en-US" altLang="id-ID" sz="3600" dirty="0" err="1"/>
              <a:t>enampilkan</a:t>
            </a:r>
            <a:r>
              <a:rPr lang="id-ID" altLang="id-ID" sz="3600" dirty="0">
                <a:solidFill>
                  <a:srgbClr val="FF0000"/>
                </a:solidFill>
              </a:rPr>
              <a:t> </a:t>
            </a:r>
            <a:r>
              <a:rPr lang="en-US" altLang="id-ID" sz="3600" dirty="0">
                <a:solidFill>
                  <a:srgbClr val="FF0000"/>
                </a:solidFill>
              </a:rPr>
              <a:t>D</a:t>
            </a:r>
            <a:r>
              <a:rPr lang="en-US" altLang="id-ID" sz="3600" dirty="0"/>
              <a:t>ictionary</a:t>
            </a:r>
            <a:endParaRPr lang="id-ID" altLang="id-ID" sz="3600" dirty="0"/>
          </a:p>
        </p:txBody>
      </p:sp>
      <p:sp>
        <p:nvSpPr>
          <p:cNvPr id="6148" name="Content Placeholder 2"/>
          <p:cNvSpPr txBox="1">
            <a:spLocks noChangeArrowheads="1"/>
          </p:cNvSpPr>
          <p:nvPr/>
        </p:nvSpPr>
        <p:spPr bwMode="auto">
          <a:xfrm>
            <a:off x="774949" y="990600"/>
            <a:ext cx="3514022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87375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id-ID" altLang="id-ID" sz="2800" dirty="0"/>
              <a:t>D</a:t>
            </a:r>
            <a:r>
              <a:rPr lang="en-US" altLang="id-ID" sz="2800" dirty="0" err="1"/>
              <a:t>ata</a:t>
            </a:r>
            <a:r>
              <a:rPr lang="en-US" altLang="id-ID" sz="2800" dirty="0"/>
              <a:t>={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d-ID" sz="2800" dirty="0"/>
              <a:t>    “Nama”: “</a:t>
            </a:r>
            <a:r>
              <a:rPr lang="en-US" altLang="id-ID" sz="2800" dirty="0" err="1"/>
              <a:t>Palui</a:t>
            </a:r>
            <a:r>
              <a:rPr lang="en-US" altLang="id-ID" sz="2800" dirty="0"/>
              <a:t>”,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d-ID" sz="2800" dirty="0"/>
              <a:t>   “UAS”: 75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id-ID" sz="2800" dirty="0"/>
              <a:t>} </a:t>
            </a:r>
          </a:p>
        </p:txBody>
      </p:sp>
      <p:sp>
        <p:nvSpPr>
          <p:cNvPr id="1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629400" y="6075362"/>
            <a:ext cx="2057400" cy="4016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8E435ED-59B3-46E2-AF0E-9BA27ED96F13}" type="slidenum">
              <a:rPr lang="en-US" altLang="id-ID" sz="900">
                <a:solidFill>
                  <a:srgbClr val="898989"/>
                </a:solidFill>
              </a:rPr>
              <a:pPr/>
              <a:t>7</a:t>
            </a:fld>
            <a:endParaRPr lang="en-US" altLang="id-ID" sz="900">
              <a:solidFill>
                <a:srgbClr val="898989"/>
              </a:solidFill>
            </a:endParaRPr>
          </a:p>
        </p:txBody>
      </p:sp>
      <p:sp>
        <p:nvSpPr>
          <p:cNvPr id="14" name="Content Placeholder 2"/>
          <p:cNvSpPr txBox="1">
            <a:spLocks noChangeArrowheads="1"/>
          </p:cNvSpPr>
          <p:nvPr/>
        </p:nvSpPr>
        <p:spPr bwMode="auto">
          <a:xfrm>
            <a:off x="1079749" y="2754084"/>
            <a:ext cx="4191000" cy="3875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87375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altLang="id-ID" sz="2800" dirty="0"/>
              <a:t>print(Data)</a:t>
            </a:r>
          </a:p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altLang="id-ID" sz="2800" dirty="0"/>
              <a:t>print(Data[“UAS”])</a:t>
            </a:r>
          </a:p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sz="2800" dirty="0"/>
              <a:t>for x in Data: </a:t>
            </a:r>
          </a:p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sz="2800" dirty="0"/>
              <a:t>    print(x)</a:t>
            </a:r>
          </a:p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sz="2800" dirty="0"/>
              <a:t>for x in Data:  </a:t>
            </a:r>
          </a:p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sz="2800" dirty="0"/>
              <a:t>    print(Data[x]) </a:t>
            </a:r>
          </a:p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sz="2800" dirty="0"/>
              <a:t>for x, y in </a:t>
            </a:r>
            <a:r>
              <a:rPr lang="en-US" sz="2800" dirty="0" err="1"/>
              <a:t>Data.items</a:t>
            </a:r>
            <a:r>
              <a:rPr lang="en-US" sz="2800" dirty="0"/>
              <a:t>():</a:t>
            </a:r>
          </a:p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sz="2800" dirty="0"/>
              <a:t>    print(x,'\</a:t>
            </a:r>
            <a:r>
              <a:rPr lang="en-US" sz="2800" dirty="0" err="1"/>
              <a:t>t',y</a:t>
            </a:r>
            <a:r>
              <a:rPr lang="en-US" sz="2800" dirty="0"/>
              <a:t>) </a:t>
            </a:r>
            <a:endParaRPr lang="en-US" altLang="id-ID" sz="2800" dirty="0"/>
          </a:p>
          <a:p>
            <a:pPr marL="228600" eaLnBrk="1" hangingPunct="1">
              <a:buFont typeface="Wingdings" panose="05000000000000000000" pitchFamily="2" charset="2"/>
              <a:buNone/>
            </a:pPr>
            <a:endParaRPr lang="en-US" altLang="id-ID" sz="2800" dirty="0"/>
          </a:p>
        </p:txBody>
      </p:sp>
      <p:sp>
        <p:nvSpPr>
          <p:cNvPr id="15" name="Content Placeholder 2"/>
          <p:cNvSpPr txBox="1">
            <a:spLocks noChangeArrowheads="1"/>
          </p:cNvSpPr>
          <p:nvPr/>
        </p:nvSpPr>
        <p:spPr bwMode="auto">
          <a:xfrm>
            <a:off x="4593771" y="2819400"/>
            <a:ext cx="3559629" cy="60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87375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altLang="id-ID" sz="2000" dirty="0"/>
              <a:t>#</a:t>
            </a:r>
            <a:r>
              <a:rPr lang="en-US" altLang="id-ID" sz="2000" dirty="0" err="1"/>
              <a:t>menampilkan</a:t>
            </a:r>
            <a:r>
              <a:rPr lang="en-US" altLang="id-ID" sz="2000" dirty="0"/>
              <a:t> </a:t>
            </a:r>
            <a:r>
              <a:rPr lang="en-US" altLang="id-ID" sz="2000" dirty="0" err="1"/>
              <a:t>semua</a:t>
            </a:r>
            <a:r>
              <a:rPr lang="en-US" altLang="id-ID" sz="2000" dirty="0"/>
              <a:t> </a:t>
            </a:r>
            <a:r>
              <a:rPr lang="en-US" altLang="id-ID" sz="2000" dirty="0" err="1"/>
              <a:t>isi</a:t>
            </a:r>
            <a:r>
              <a:rPr lang="en-US" altLang="id-ID" sz="2000" dirty="0"/>
              <a:t> Data</a:t>
            </a:r>
            <a:endParaRPr lang="id-ID" altLang="id-ID" sz="2000" dirty="0"/>
          </a:p>
        </p:txBody>
      </p:sp>
      <p:sp>
        <p:nvSpPr>
          <p:cNvPr id="17" name="Content Placeholder 2"/>
          <p:cNvSpPr txBox="1">
            <a:spLocks noChangeArrowheads="1"/>
          </p:cNvSpPr>
          <p:nvPr/>
        </p:nvSpPr>
        <p:spPr bwMode="auto">
          <a:xfrm>
            <a:off x="4593771" y="3352800"/>
            <a:ext cx="355962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87375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altLang="id-ID" sz="1800" dirty="0"/>
              <a:t>#</a:t>
            </a:r>
            <a:r>
              <a:rPr lang="en-US" altLang="id-ID" sz="1800" dirty="0" err="1"/>
              <a:t>menampilkan</a:t>
            </a:r>
            <a:r>
              <a:rPr lang="en-US" altLang="id-ID" sz="1800" dirty="0"/>
              <a:t> </a:t>
            </a:r>
            <a:r>
              <a:rPr lang="en-US" altLang="id-ID" sz="1800" dirty="0" err="1"/>
              <a:t>nilai</a:t>
            </a:r>
            <a:r>
              <a:rPr lang="en-US" altLang="id-ID" sz="1800" dirty="0"/>
              <a:t> </a:t>
            </a:r>
            <a:r>
              <a:rPr lang="en-US" altLang="id-ID" sz="1800" dirty="0" err="1"/>
              <a:t>dari</a:t>
            </a:r>
            <a:r>
              <a:rPr lang="en-US" altLang="id-ID" sz="1800" dirty="0"/>
              <a:t> key UAS</a:t>
            </a:r>
            <a:endParaRPr lang="id-ID" altLang="id-ID" sz="1800" dirty="0"/>
          </a:p>
        </p:txBody>
      </p:sp>
      <p:sp>
        <p:nvSpPr>
          <p:cNvPr id="11" name="Content Placeholder 2"/>
          <p:cNvSpPr txBox="1">
            <a:spLocks noChangeArrowheads="1"/>
          </p:cNvSpPr>
          <p:nvPr/>
        </p:nvSpPr>
        <p:spPr bwMode="auto">
          <a:xfrm>
            <a:off x="4508749" y="3810000"/>
            <a:ext cx="3559629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87375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0002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4574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29146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371850" indent="-171450" defTabSz="68580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28600" eaLnBrk="1" hangingPunct="1">
              <a:buFont typeface="Wingdings" panose="05000000000000000000" pitchFamily="2" charset="2"/>
              <a:buNone/>
            </a:pPr>
            <a:r>
              <a:rPr lang="en-US" altLang="id-ID" sz="1800" dirty="0"/>
              <a:t>#</a:t>
            </a:r>
            <a:r>
              <a:rPr lang="en-US" altLang="id-ID" sz="1800" dirty="0" err="1"/>
              <a:t>menampilkan</a:t>
            </a:r>
            <a:r>
              <a:rPr lang="en-US" altLang="id-ID" sz="1800" dirty="0"/>
              <a:t> </a:t>
            </a:r>
            <a:r>
              <a:rPr lang="en-US" altLang="id-ID" sz="1800" dirty="0" err="1"/>
              <a:t>semua</a:t>
            </a:r>
            <a:r>
              <a:rPr lang="en-US" altLang="id-ID" sz="1800" dirty="0"/>
              <a:t> key</a:t>
            </a:r>
            <a:endParaRPr lang="id-ID" altLang="id-ID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sz="3200" dirty="0" err="1">
                <a:solidFill>
                  <a:srgbClr val="FF0000"/>
                </a:solidFill>
              </a:rPr>
              <a:t>A</a:t>
            </a:r>
            <a:r>
              <a:rPr lang="en-US" altLang="id-ID" sz="3200" dirty="0" err="1"/>
              <a:t>kses</a:t>
            </a:r>
            <a:r>
              <a:rPr lang="id-ID" altLang="id-ID" sz="3200" dirty="0">
                <a:solidFill>
                  <a:srgbClr val="FF0000"/>
                </a:solidFill>
              </a:rPr>
              <a:t> </a:t>
            </a:r>
            <a:r>
              <a:rPr lang="en-US" altLang="id-ID" sz="3200" dirty="0">
                <a:solidFill>
                  <a:srgbClr val="FF0000"/>
                </a:solidFill>
              </a:rPr>
              <a:t>D</a:t>
            </a:r>
            <a:r>
              <a:rPr lang="en-US" altLang="id-ID" sz="3200" dirty="0"/>
              <a:t>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600201"/>
            <a:ext cx="7448550" cy="4648200"/>
          </a:xfrm>
        </p:spPr>
        <p:txBody>
          <a:bodyPr/>
          <a:lstStyle/>
          <a:p>
            <a:r>
              <a:rPr lang="en-US" sz="2800" dirty="0" err="1"/>
              <a:t>Mengubah</a:t>
            </a:r>
            <a:r>
              <a:rPr lang="en-US" sz="2800" dirty="0"/>
              <a:t> </a:t>
            </a:r>
            <a:r>
              <a:rPr lang="en-US" sz="2800" dirty="0" err="1"/>
              <a:t>nilai</a:t>
            </a:r>
            <a:r>
              <a:rPr lang="en-US" sz="2800" dirty="0"/>
              <a:t> key UAS </a:t>
            </a:r>
            <a:r>
              <a:rPr lang="en-US" sz="2800" dirty="0" err="1"/>
              <a:t>menjadi</a:t>
            </a:r>
            <a:r>
              <a:rPr lang="en-US" sz="2800" dirty="0"/>
              <a:t> 100</a:t>
            </a:r>
          </a:p>
          <a:p>
            <a:pPr marL="685800" lvl="2" indent="0">
              <a:buNone/>
            </a:pPr>
            <a:r>
              <a:rPr lang="en-US" sz="2800" dirty="0"/>
              <a:t>Data[</a:t>
            </a:r>
            <a:r>
              <a:rPr lang="en-US" sz="2800" dirty="0">
                <a:solidFill>
                  <a:srgbClr val="92D050"/>
                </a:solidFill>
              </a:rPr>
              <a:t>"UAS"</a:t>
            </a:r>
            <a:r>
              <a:rPr lang="en-US" sz="2800" dirty="0"/>
              <a:t>]=100 </a:t>
            </a:r>
          </a:p>
          <a:p>
            <a:pPr marL="685800" lvl="2" indent="0">
              <a:buNone/>
            </a:pPr>
            <a:r>
              <a:rPr lang="en-US" sz="2800" dirty="0" err="1"/>
              <a:t>Atau</a:t>
            </a:r>
            <a:endParaRPr lang="en-US" sz="2800" dirty="0"/>
          </a:p>
          <a:p>
            <a:pPr marL="685800" lvl="2" indent="0">
              <a:buNone/>
            </a:pPr>
            <a:r>
              <a:rPr lang="en-US" sz="2800" dirty="0" err="1"/>
              <a:t>Data.</a:t>
            </a:r>
            <a:r>
              <a:rPr lang="en-US" sz="2800" dirty="0" err="1">
                <a:solidFill>
                  <a:srgbClr val="7030A0"/>
                </a:solidFill>
              </a:rPr>
              <a:t>update</a:t>
            </a:r>
            <a:r>
              <a:rPr lang="en-US" sz="2800" dirty="0"/>
              <a:t>({</a:t>
            </a:r>
            <a:r>
              <a:rPr lang="en-US" sz="2800" dirty="0">
                <a:solidFill>
                  <a:srgbClr val="92D050"/>
                </a:solidFill>
              </a:rPr>
              <a:t>"UAS"</a:t>
            </a:r>
            <a:r>
              <a:rPr lang="en-US" sz="2800" dirty="0"/>
              <a:t>: 100})</a:t>
            </a:r>
          </a:p>
          <a:p>
            <a:r>
              <a:rPr lang="en-US" sz="2800" dirty="0" err="1"/>
              <a:t>Menambahkan</a:t>
            </a:r>
            <a:r>
              <a:rPr lang="en-US" sz="2800" dirty="0"/>
              <a:t> key </a:t>
            </a:r>
            <a:r>
              <a:rPr lang="en-US" sz="2800" dirty="0" err="1"/>
              <a:t>baru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nama</a:t>
            </a:r>
            <a:r>
              <a:rPr lang="en-US" sz="2800" dirty="0"/>
              <a:t> TGS</a:t>
            </a:r>
          </a:p>
          <a:p>
            <a:pPr marL="685800" lvl="2" indent="0">
              <a:buNone/>
            </a:pPr>
            <a:r>
              <a:rPr lang="en-US" sz="2800" dirty="0"/>
              <a:t>Data[</a:t>
            </a:r>
            <a:r>
              <a:rPr lang="en-US" sz="2800" dirty="0">
                <a:solidFill>
                  <a:srgbClr val="92D050"/>
                </a:solidFill>
              </a:rPr>
              <a:t>"TGS"</a:t>
            </a:r>
            <a:r>
              <a:rPr lang="en-US" sz="2800" dirty="0"/>
              <a:t>]=[80,70,75]</a:t>
            </a:r>
          </a:p>
          <a:p>
            <a:r>
              <a:rPr lang="en-US" sz="2800" dirty="0"/>
              <a:t>Assign </a:t>
            </a:r>
            <a:r>
              <a:rPr lang="en-US" sz="2800" dirty="0" err="1"/>
              <a:t>nilai</a:t>
            </a:r>
            <a:r>
              <a:rPr lang="en-US" sz="2800" dirty="0"/>
              <a:t> </a:t>
            </a:r>
            <a:r>
              <a:rPr lang="en-US" sz="2800" dirty="0" err="1"/>
              <a:t>dari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key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variabel</a:t>
            </a:r>
            <a:r>
              <a:rPr lang="en-US" sz="2800" dirty="0"/>
              <a:t> lain </a:t>
            </a:r>
          </a:p>
          <a:p>
            <a:pPr marL="685800" lvl="2" indent="0">
              <a:buNone/>
            </a:pPr>
            <a:r>
              <a:rPr lang="en-US" sz="2800" dirty="0"/>
              <a:t>a= </a:t>
            </a:r>
            <a:r>
              <a:rPr lang="en-US" sz="2800" dirty="0" err="1"/>
              <a:t>Data.</a:t>
            </a:r>
            <a:r>
              <a:rPr lang="en-US" sz="2800" dirty="0" err="1">
                <a:solidFill>
                  <a:srgbClr val="7030A0"/>
                </a:solidFill>
              </a:rPr>
              <a:t>get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92D050"/>
                </a:solidFill>
              </a:rPr>
              <a:t>'UAS'</a:t>
            </a:r>
            <a:r>
              <a:rPr lang="en-US" sz="2800" dirty="0"/>
              <a:t>)</a:t>
            </a:r>
          </a:p>
          <a:p>
            <a:r>
              <a:rPr lang="en-US" sz="2800" dirty="0" err="1"/>
              <a:t>Menyalin</a:t>
            </a:r>
            <a:r>
              <a:rPr lang="en-US" sz="2800" dirty="0"/>
              <a:t> </a:t>
            </a:r>
            <a:r>
              <a:rPr lang="en-US" sz="2800" dirty="0" err="1"/>
              <a:t>suatu</a:t>
            </a:r>
            <a:r>
              <a:rPr lang="en-US" sz="2800" dirty="0"/>
              <a:t> dictionary </a:t>
            </a:r>
            <a:r>
              <a:rPr lang="en-US" sz="2800" dirty="0" err="1"/>
              <a:t>ke</a:t>
            </a:r>
            <a:r>
              <a:rPr lang="en-US" sz="2800" dirty="0"/>
              <a:t> </a:t>
            </a:r>
            <a:r>
              <a:rPr lang="en-US" sz="2800" dirty="0" err="1"/>
              <a:t>variabel</a:t>
            </a:r>
            <a:r>
              <a:rPr lang="en-US" sz="2800" dirty="0"/>
              <a:t> lain </a:t>
            </a:r>
          </a:p>
          <a:p>
            <a:pPr marL="685800" lvl="2" indent="0">
              <a:buNone/>
            </a:pPr>
            <a:r>
              <a:rPr lang="en-US" sz="2800" dirty="0"/>
              <a:t>A=</a:t>
            </a:r>
            <a:r>
              <a:rPr lang="en-US" sz="2800" dirty="0" err="1"/>
              <a:t>Data.</a:t>
            </a:r>
            <a:r>
              <a:rPr lang="en-US" sz="2800" dirty="0" err="1">
                <a:solidFill>
                  <a:srgbClr val="7030A0"/>
                </a:solidFill>
              </a:rPr>
              <a:t>copy</a:t>
            </a:r>
            <a:r>
              <a:rPr lang="en-US" sz="2800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0C9D-53E0-4BAA-8E30-F32002912FB2}" type="slidenum">
              <a:rPr lang="en-US" altLang="id-ID" smtClean="0"/>
              <a:pPr/>
              <a:t>8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283833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d-ID" sz="3600" dirty="0" err="1">
                <a:solidFill>
                  <a:srgbClr val="FF0000"/>
                </a:solidFill>
              </a:rPr>
              <a:t>M</a:t>
            </a:r>
            <a:r>
              <a:rPr lang="en-US" altLang="id-ID" sz="3600" dirty="0" err="1"/>
              <a:t>enghapus</a:t>
            </a:r>
            <a:r>
              <a:rPr lang="id-ID" altLang="id-ID" sz="3600" dirty="0">
                <a:solidFill>
                  <a:srgbClr val="FF0000"/>
                </a:solidFill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5148" y="1799925"/>
            <a:ext cx="6877251" cy="3229276"/>
          </a:xfrm>
        </p:spPr>
        <p:txBody>
          <a:bodyPr/>
          <a:lstStyle/>
          <a:p>
            <a:r>
              <a:rPr lang="en-US" sz="2800" dirty="0" err="1"/>
              <a:t>Menghapus</a:t>
            </a:r>
            <a:r>
              <a:rPr lang="en-US" sz="2800" dirty="0"/>
              <a:t> key </a:t>
            </a:r>
            <a:r>
              <a:rPr lang="en-US" sz="2800" dirty="0" err="1"/>
              <a:t>tertentu</a:t>
            </a:r>
            <a:r>
              <a:rPr lang="en-US" sz="2800" dirty="0"/>
              <a:t> </a:t>
            </a:r>
            <a:r>
              <a:rPr lang="en-US" sz="2800" dirty="0" err="1"/>
              <a:t>menggunakan</a:t>
            </a:r>
            <a:r>
              <a:rPr lang="en-US" sz="2800" dirty="0"/>
              <a:t> pop </a:t>
            </a:r>
          </a:p>
          <a:p>
            <a:pPr marL="685800" lvl="2" indent="0">
              <a:buNone/>
            </a:pPr>
            <a:r>
              <a:rPr lang="en-US" sz="2800" dirty="0" err="1"/>
              <a:t>Data.</a:t>
            </a:r>
            <a:r>
              <a:rPr lang="en-US" sz="2800" dirty="0" err="1">
                <a:solidFill>
                  <a:srgbClr val="7030A0"/>
                </a:solidFill>
              </a:rPr>
              <a:t>pop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92D050"/>
                </a:solidFill>
              </a:rPr>
              <a:t>"UTS"</a:t>
            </a:r>
            <a:r>
              <a:rPr lang="en-US" sz="2800" dirty="0"/>
              <a:t>) </a:t>
            </a:r>
          </a:p>
          <a:p>
            <a:r>
              <a:rPr lang="en-US" sz="2800" dirty="0" err="1"/>
              <a:t>Menghapus</a:t>
            </a:r>
            <a:r>
              <a:rPr lang="en-US" sz="2800" dirty="0"/>
              <a:t> key </a:t>
            </a:r>
            <a:r>
              <a:rPr lang="en-US" sz="2800" dirty="0" err="1"/>
              <a:t>tertentu</a:t>
            </a:r>
            <a:r>
              <a:rPr lang="en-US" sz="2800" dirty="0"/>
              <a:t> </a:t>
            </a:r>
            <a:r>
              <a:rPr lang="en-US" sz="2800" dirty="0" err="1"/>
              <a:t>menggunakan</a:t>
            </a:r>
            <a:r>
              <a:rPr lang="en-US" sz="2800" dirty="0"/>
              <a:t> del </a:t>
            </a:r>
          </a:p>
          <a:p>
            <a:pPr marL="685800" lvl="2" indent="0">
              <a:buNone/>
            </a:pPr>
            <a:r>
              <a:rPr lang="en-US" sz="2800" dirty="0">
                <a:solidFill>
                  <a:srgbClr val="7030A0"/>
                </a:solidFill>
              </a:rPr>
              <a:t>del</a:t>
            </a:r>
            <a:r>
              <a:rPr lang="en-US" sz="2800" dirty="0"/>
              <a:t> Data[</a:t>
            </a:r>
            <a:r>
              <a:rPr lang="en-US" sz="2800" dirty="0">
                <a:solidFill>
                  <a:srgbClr val="92D050"/>
                </a:solidFill>
              </a:rPr>
              <a:t>"TGS"</a:t>
            </a:r>
            <a:r>
              <a:rPr lang="en-US" sz="2800" dirty="0"/>
              <a:t>] </a:t>
            </a:r>
          </a:p>
          <a:p>
            <a:r>
              <a:rPr lang="en-US" sz="2800" dirty="0" err="1"/>
              <a:t>Menghapus</a:t>
            </a:r>
            <a:r>
              <a:rPr lang="en-US" sz="2800" dirty="0"/>
              <a:t> </a:t>
            </a:r>
            <a:r>
              <a:rPr lang="en-US" sz="2800" dirty="0" err="1"/>
              <a:t>semua</a:t>
            </a:r>
            <a:r>
              <a:rPr lang="en-US" sz="2800" dirty="0"/>
              <a:t> key/ </a:t>
            </a:r>
            <a:r>
              <a:rPr lang="en-US" sz="2800" dirty="0" err="1"/>
              <a:t>mengosongkan</a:t>
            </a:r>
            <a:r>
              <a:rPr lang="en-US" sz="2800" dirty="0"/>
              <a:t> </a:t>
            </a:r>
          </a:p>
          <a:p>
            <a:pPr marL="685800" lvl="2" indent="0">
              <a:buNone/>
            </a:pPr>
            <a:r>
              <a:rPr lang="en-US" sz="2800" dirty="0" err="1"/>
              <a:t>Data.</a:t>
            </a:r>
            <a:r>
              <a:rPr lang="en-US" sz="2800" dirty="0" err="1">
                <a:solidFill>
                  <a:srgbClr val="7030A0"/>
                </a:solidFill>
              </a:rPr>
              <a:t>clear</a:t>
            </a:r>
            <a:r>
              <a:rPr lang="en-US" sz="2800" dirty="0"/>
              <a:t>()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A0C9D-53E0-4BAA-8E30-F32002912FB2}" type="slidenum">
              <a:rPr lang="en-US" altLang="id-ID" smtClean="0"/>
              <a:pPr/>
              <a:t>9</a:t>
            </a:fld>
            <a:endParaRPr lang="en-US" altLang="id-ID"/>
          </a:p>
        </p:txBody>
      </p:sp>
    </p:spTree>
    <p:extLst>
      <p:ext uri="{BB962C8B-B14F-4D97-AF65-F5344CB8AC3E}">
        <p14:creationId xmlns:p14="http://schemas.microsoft.com/office/powerpoint/2010/main" val="94881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7189</TotalTime>
  <Words>461</Words>
  <Application>Microsoft Office PowerPoint</Application>
  <PresentationFormat>On-screen Show (4:3)</PresentationFormat>
  <Paragraphs>99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asap</vt:lpstr>
      <vt:lpstr>Calibri</vt:lpstr>
      <vt:lpstr>Calibri Light</vt:lpstr>
      <vt:lpstr>Times New Roman</vt:lpstr>
      <vt:lpstr>Wingdings</vt:lpstr>
      <vt:lpstr>Office Theme</vt:lpstr>
      <vt:lpstr>STRUKTUR DATA</vt:lpstr>
      <vt:lpstr>Pengantar</vt:lpstr>
      <vt:lpstr>DICTIONARY</vt:lpstr>
      <vt:lpstr>MEMBUAT DICTIONARY BARU</vt:lpstr>
      <vt:lpstr>MEMBUAT DICTIONARY BARU</vt:lpstr>
      <vt:lpstr>MEMBUAT DICTIONARY BARU</vt:lpstr>
      <vt:lpstr>Menampilkan Dictionary</vt:lpstr>
      <vt:lpstr>Akses Dictionary</vt:lpstr>
      <vt:lpstr>Menghapus </vt:lpstr>
    </vt:vector>
  </TitlesOfParts>
  <Company>Melta Sakinah Corp.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Struktur Data</dc:title>
  <dc:creator>Ihsan Jatnika</dc:creator>
  <cp:lastModifiedBy>Acer</cp:lastModifiedBy>
  <cp:revision>241</cp:revision>
  <cp:lastPrinted>2019-03-04T04:25:06Z</cp:lastPrinted>
  <dcterms:created xsi:type="dcterms:W3CDTF">2004-02-26T00:34:54Z</dcterms:created>
  <dcterms:modified xsi:type="dcterms:W3CDTF">2026-03-11T03:13:19Z</dcterms:modified>
</cp:coreProperties>
</file>