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8" r:id="rId2"/>
    <p:sldId id="264" r:id="rId3"/>
    <p:sldId id="265" r:id="rId4"/>
    <p:sldId id="266" r:id="rId5"/>
    <p:sldId id="278" r:id="rId6"/>
    <p:sldId id="267" r:id="rId7"/>
    <p:sldId id="283" r:id="rId8"/>
    <p:sldId id="285" r:id="rId9"/>
    <p:sldId id="287" r:id="rId10"/>
    <p:sldId id="281" r:id="rId11"/>
    <p:sldId id="286" r:id="rId12"/>
    <p:sldId id="284" r:id="rId13"/>
    <p:sldId id="288" r:id="rId14"/>
    <p:sldId id="289" r:id="rId15"/>
    <p:sldId id="290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1508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0D32DA-B378-4174-8DB9-62CD747AECD6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537015-E593-4D5D-9609-5219FDF6E3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545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80EEA-D7DA-4D61-B616-C66912A55822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D618F-F6C4-4EA5-AD3F-E0DC0ED507E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80EEA-D7DA-4D61-B616-C66912A55822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D618F-F6C4-4EA5-AD3F-E0DC0ED507E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80EEA-D7DA-4D61-B616-C66912A55822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D618F-F6C4-4EA5-AD3F-E0DC0ED507E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80EEA-D7DA-4D61-B616-C66912A55822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D618F-F6C4-4EA5-AD3F-E0DC0ED507E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80EEA-D7DA-4D61-B616-C66912A55822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D618F-F6C4-4EA5-AD3F-E0DC0ED507E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80EEA-D7DA-4D61-B616-C66912A55822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D618F-F6C4-4EA5-AD3F-E0DC0ED507E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80EEA-D7DA-4D61-B616-C66912A55822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D618F-F6C4-4EA5-AD3F-E0DC0ED507E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80EEA-D7DA-4D61-B616-C66912A55822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D618F-F6C4-4EA5-AD3F-E0DC0ED507E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80EEA-D7DA-4D61-B616-C66912A55822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D618F-F6C4-4EA5-AD3F-E0DC0ED507E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80EEA-D7DA-4D61-B616-C66912A55822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D618F-F6C4-4EA5-AD3F-E0DC0ED507E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80EEA-D7DA-4D61-B616-C66912A55822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D618F-F6C4-4EA5-AD3F-E0DC0ED507E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E80EEA-D7DA-4D61-B616-C66912A55822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ED618F-F6C4-4EA5-AD3F-E0DC0ED507E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tmp"/><Relationship Id="rId4" Type="http://schemas.openxmlformats.org/officeDocument/2006/relationships/image" Target="../media/image4.tm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mp"/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tmp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mp"/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tmp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mp"/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tmp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List </a:t>
            </a:r>
            <a:r>
              <a:rPr lang="en-US" dirty="0" err="1"/>
              <a:t>pada</a:t>
            </a:r>
            <a:r>
              <a:rPr lang="en-US" dirty="0"/>
              <a:t> Python</a:t>
            </a:r>
            <a:endParaRPr lang="en-SG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0000"/>
                </a:solidFill>
              </a:rPr>
              <a:t>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3962400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>
                <a:solidFill>
                  <a:srgbClr val="00B0F0"/>
                </a:solidFill>
              </a:rPr>
              <a:t>Merupakan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 err="1">
                <a:solidFill>
                  <a:srgbClr val="00B0F0"/>
                </a:solidFill>
              </a:rPr>
              <a:t>salah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 err="1">
                <a:solidFill>
                  <a:srgbClr val="00B0F0"/>
                </a:solidFill>
              </a:rPr>
              <a:t>satu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 err="1">
                <a:solidFill>
                  <a:srgbClr val="00B0F0"/>
                </a:solidFill>
              </a:rPr>
              <a:t>tipe</a:t>
            </a:r>
            <a:r>
              <a:rPr lang="en-US" dirty="0">
                <a:solidFill>
                  <a:srgbClr val="00B0F0"/>
                </a:solidFill>
              </a:rPr>
              <a:t> data </a:t>
            </a:r>
            <a:r>
              <a:rPr lang="en-US" dirty="0" err="1">
                <a:solidFill>
                  <a:srgbClr val="00B0F0"/>
                </a:solidFill>
              </a:rPr>
              <a:t>pada</a:t>
            </a:r>
            <a:r>
              <a:rPr lang="en-US" dirty="0">
                <a:solidFill>
                  <a:srgbClr val="00B0F0"/>
                </a:solidFill>
              </a:rPr>
              <a:t> Python</a:t>
            </a:r>
          </a:p>
          <a:p>
            <a:r>
              <a:rPr lang="en-US" dirty="0">
                <a:solidFill>
                  <a:srgbClr val="00B0F0"/>
                </a:solidFill>
              </a:rPr>
              <a:t>list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menyimpan</a:t>
            </a:r>
            <a:r>
              <a:rPr lang="en-US" dirty="0"/>
              <a:t> </a:t>
            </a:r>
            <a:r>
              <a:rPr lang="en-US" dirty="0" err="1"/>
              <a:t>sekumpulan</a:t>
            </a:r>
            <a:r>
              <a:rPr lang="en-US" dirty="0"/>
              <a:t> data yang </a:t>
            </a:r>
            <a:r>
              <a:rPr lang="en-US" dirty="0" err="1">
                <a:solidFill>
                  <a:srgbClr val="00B0F0"/>
                </a:solidFill>
              </a:rPr>
              <a:t>bertipe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 err="1">
                <a:solidFill>
                  <a:srgbClr val="00B0F0"/>
                </a:solidFill>
              </a:rPr>
              <a:t>sama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 err="1">
                <a:solidFill>
                  <a:srgbClr val="00B0F0"/>
                </a:solidFill>
              </a:rPr>
              <a:t>ataupun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 err="1">
                <a:solidFill>
                  <a:srgbClr val="00B0F0"/>
                </a:solidFill>
              </a:rPr>
              <a:t>berbeda</a:t>
            </a:r>
            <a:endParaRPr lang="en-US" dirty="0"/>
          </a:p>
          <a:p>
            <a:r>
              <a:rPr lang="en-US" dirty="0" err="1"/>
              <a:t>Nilai-nilai</a:t>
            </a:r>
            <a:r>
              <a:rPr lang="en-US" dirty="0"/>
              <a:t> data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list </a:t>
            </a:r>
            <a:r>
              <a:rPr lang="en-US" dirty="0" err="1"/>
              <a:t>disebut</a:t>
            </a:r>
            <a:r>
              <a:rPr lang="en-US" dirty="0"/>
              <a:t> </a:t>
            </a:r>
            <a:r>
              <a:rPr lang="en-US" dirty="0" err="1">
                <a:solidFill>
                  <a:srgbClr val="92D050"/>
                </a:solidFill>
              </a:rPr>
              <a:t>elemen</a:t>
            </a:r>
            <a:endParaRPr lang="en-US" dirty="0"/>
          </a:p>
          <a:p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</a:t>
            </a:r>
            <a:r>
              <a:rPr lang="en-US" dirty="0" err="1"/>
              <a:t>diakses</a:t>
            </a:r>
            <a:r>
              <a:rPr lang="en-US" dirty="0"/>
              <a:t> </a:t>
            </a:r>
            <a:r>
              <a:rPr lang="en-US" dirty="0" err="1"/>
              <a:t>langsung</a:t>
            </a:r>
            <a:r>
              <a:rPr lang="en-US" dirty="0"/>
              <a:t> </a:t>
            </a:r>
            <a:r>
              <a:rPr lang="en-US" dirty="0" err="1"/>
              <a:t>melalui</a:t>
            </a:r>
            <a:r>
              <a:rPr lang="en-US" dirty="0"/>
              <a:t> </a:t>
            </a:r>
            <a:r>
              <a:rPr lang="en-US" dirty="0" err="1">
                <a:solidFill>
                  <a:srgbClr val="00B0F0"/>
                </a:solidFill>
              </a:rPr>
              <a:t>indeksnya</a:t>
            </a:r>
            <a:r>
              <a:rPr lang="en-US" dirty="0"/>
              <a:t>.</a:t>
            </a:r>
          </a:p>
          <a:p>
            <a:r>
              <a:rPr lang="en-US" dirty="0" err="1"/>
              <a:t>Letak</a:t>
            </a:r>
            <a:r>
              <a:rPr lang="en-US" dirty="0"/>
              <a:t> </a:t>
            </a:r>
            <a:r>
              <a:rPr lang="en-US" dirty="0" err="1"/>
              <a:t>urutan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list </a:t>
            </a:r>
            <a:r>
              <a:rPr lang="en-US" dirty="0" err="1"/>
              <a:t>ditunjukkan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i="1" dirty="0">
                <a:solidFill>
                  <a:srgbClr val="92D050"/>
                </a:solidFill>
              </a:rPr>
              <a:t>index</a:t>
            </a:r>
            <a:r>
              <a:rPr lang="en-US" dirty="0">
                <a:solidFill>
                  <a:srgbClr val="92D050"/>
                </a:solidFill>
              </a:rPr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i="1" dirty="0">
                <a:solidFill>
                  <a:srgbClr val="92D050"/>
                </a:solidFill>
              </a:rPr>
              <a:t>subscript, </a:t>
            </a:r>
            <a:r>
              <a:rPr lang="en-US" dirty="0" err="1"/>
              <a:t>dipisahkan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>
                <a:solidFill>
                  <a:srgbClr val="FF0000"/>
                </a:solidFill>
              </a:rPr>
              <a:t>koma</a:t>
            </a:r>
            <a:r>
              <a:rPr lang="en-US" dirty="0"/>
              <a:t>,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diletakkan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>
                <a:solidFill>
                  <a:srgbClr val="7030A0"/>
                </a:solidFill>
              </a:rPr>
              <a:t>kurung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 err="1">
                <a:solidFill>
                  <a:srgbClr val="7030A0"/>
                </a:solidFill>
              </a:rPr>
              <a:t>siku</a:t>
            </a:r>
            <a:r>
              <a:rPr lang="en-US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solidFill>
                  <a:srgbClr val="FF0000"/>
                </a:solidFill>
              </a:rPr>
              <a:t>List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66800"/>
            <a:ext cx="7924800" cy="762000"/>
          </a:xfrm>
        </p:spPr>
        <p:txBody>
          <a:bodyPr>
            <a:noAutofit/>
          </a:bodyPr>
          <a:lstStyle/>
          <a:p>
            <a:r>
              <a:rPr lang="en-US" sz="2800" dirty="0"/>
              <a:t>list </a:t>
            </a:r>
            <a:r>
              <a:rPr lang="en-US" sz="2800" dirty="0" err="1"/>
              <a:t>dapat</a:t>
            </a:r>
            <a:r>
              <a:rPr lang="en-US" sz="2800" dirty="0"/>
              <a:t> </a:t>
            </a:r>
            <a:r>
              <a:rPr lang="en-US" sz="2800" dirty="0" err="1"/>
              <a:t>dikatakan</a:t>
            </a:r>
            <a:r>
              <a:rPr lang="en-US" sz="2800" dirty="0"/>
              <a:t> </a:t>
            </a:r>
            <a:r>
              <a:rPr lang="en-US" sz="2800" dirty="0" err="1"/>
              <a:t>sebagai</a:t>
            </a:r>
            <a:r>
              <a:rPr lang="en-US" sz="2800" dirty="0"/>
              <a:t> </a:t>
            </a:r>
            <a:r>
              <a:rPr lang="en-US" sz="2800" dirty="0" err="1"/>
              <a:t>suatu</a:t>
            </a:r>
            <a:r>
              <a:rPr lang="en-US" sz="2800" dirty="0"/>
              <a:t> </a:t>
            </a:r>
            <a:r>
              <a:rPr lang="en-US" sz="2800" dirty="0" err="1"/>
              <a:t>daftar</a:t>
            </a:r>
            <a:r>
              <a:rPr lang="en-US" sz="2800" dirty="0"/>
              <a:t> linier</a:t>
            </a:r>
            <a:endParaRPr lang="en-US" sz="2800" dirty="0">
              <a:solidFill>
                <a:srgbClr val="92D050"/>
              </a:solidFill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09600" y="1600200"/>
            <a:ext cx="4114800" cy="76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2800" dirty="0" err="1"/>
              <a:t>Seperti</a:t>
            </a:r>
            <a:r>
              <a:rPr lang="en-US" sz="2800" dirty="0"/>
              <a:t> </a:t>
            </a:r>
            <a:r>
              <a:rPr lang="en-US" sz="2800" dirty="0" err="1"/>
              <a:t>ilustrasi</a:t>
            </a:r>
            <a:r>
              <a:rPr lang="en-US" sz="2800" dirty="0"/>
              <a:t> </a:t>
            </a:r>
            <a:r>
              <a:rPr lang="en-US" sz="2800" dirty="0" err="1"/>
              <a:t>berikut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92D050"/>
              </a:solidFill>
              <a:effectLst/>
              <a:uLnTx/>
              <a:uFillTx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7795568"/>
              </p:ext>
            </p:extLst>
          </p:nvPr>
        </p:nvGraphicFramePr>
        <p:xfrm>
          <a:off x="533400" y="2286000"/>
          <a:ext cx="8305795" cy="853631"/>
        </p:xfrm>
        <a:graphic>
          <a:graphicData uri="http://schemas.openxmlformats.org/drawingml/2006/table">
            <a:tbl>
              <a:tblPr/>
              <a:tblGrid>
                <a:gridCol w="8722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53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53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53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62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62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62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62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2626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2626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latin typeface="Times New Roman"/>
                          <a:ea typeface="Calibri"/>
                          <a:cs typeface="Times New Roman"/>
                        </a:rPr>
                        <a:t>8</a:t>
                      </a:r>
                      <a:endParaRPr lang="en-US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Calibri"/>
                          <a:cs typeface="Times New Roman"/>
                        </a:rPr>
                        <a:t>4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Calibri"/>
                          <a:cs typeface="Times New Roman"/>
                        </a:rPr>
                        <a:t>3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Calibri"/>
                          <a:cs typeface="Times New Roman"/>
                        </a:rPr>
                        <a:t>5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Calibri"/>
                          <a:cs typeface="Times New Roman"/>
                        </a:rPr>
                        <a:t>9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Calibri"/>
                          <a:cs typeface="Times New Roman"/>
                        </a:rPr>
                        <a:t>10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Calibri"/>
                          <a:cs typeface="Times New Roman"/>
                        </a:rPr>
                        <a:t>12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Calibri"/>
                          <a:cs typeface="Times New Roman"/>
                        </a:rPr>
                        <a:t>7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Times New Roman"/>
                          <a:ea typeface="Calibri"/>
                          <a:cs typeface="Times New Roman"/>
                        </a:rPr>
                        <a:t>X[</a:t>
                      </a:r>
                      <a:r>
                        <a:rPr lang="en-US" sz="2400" dirty="0">
                          <a:solidFill>
                            <a:srgbClr val="00B0F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r>
                        <a:rPr lang="en-US" sz="2400" dirty="0">
                          <a:latin typeface="Times New Roman"/>
                          <a:ea typeface="Calibri"/>
                          <a:cs typeface="Times New Roman"/>
                        </a:rPr>
                        <a:t>]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Times New Roman"/>
                          <a:ea typeface="Calibri"/>
                          <a:cs typeface="Times New Roman"/>
                        </a:rPr>
                        <a:t>X[1]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Times New Roman"/>
                          <a:ea typeface="Calibri"/>
                          <a:cs typeface="Times New Roman"/>
                        </a:rPr>
                        <a:t>X[2]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Times New Roman"/>
                          <a:ea typeface="Calibri"/>
                          <a:cs typeface="Times New Roman"/>
                        </a:rPr>
                        <a:t>X[3]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Times New Roman"/>
                          <a:ea typeface="Calibri"/>
                          <a:cs typeface="Times New Roman"/>
                        </a:rPr>
                        <a:t>X[4]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Times New Roman"/>
                          <a:ea typeface="Calibri"/>
                          <a:cs typeface="Times New Roman"/>
                        </a:rPr>
                        <a:t>X[5]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Times New Roman"/>
                          <a:ea typeface="Calibri"/>
                          <a:cs typeface="Times New Roman"/>
                        </a:rPr>
                        <a:t>X[6]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Times New Roman"/>
                          <a:ea typeface="Calibri"/>
                          <a:cs typeface="Times New Roman"/>
                        </a:rPr>
                        <a:t>X[7]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Times New Roman"/>
                          <a:ea typeface="Calibri"/>
                          <a:cs typeface="Times New Roman"/>
                        </a:rPr>
                        <a:t>X[8]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Times New Roman"/>
                          <a:ea typeface="Calibri"/>
                          <a:cs typeface="Times New Roman"/>
                        </a:rPr>
                        <a:t>X[</a:t>
                      </a:r>
                      <a:r>
                        <a:rPr lang="en-US" sz="2400" dirty="0">
                          <a:solidFill>
                            <a:srgbClr val="00B0F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9</a:t>
                      </a:r>
                      <a:r>
                        <a:rPr lang="en-US" sz="2400" dirty="0">
                          <a:latin typeface="Times New Roman"/>
                          <a:ea typeface="Calibri"/>
                          <a:cs typeface="Times New Roman"/>
                        </a:rPr>
                        <a:t>]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Content Placeholder 2"/>
          <p:cNvSpPr txBox="1">
            <a:spLocks/>
          </p:cNvSpPr>
          <p:nvPr/>
        </p:nvSpPr>
        <p:spPr>
          <a:xfrm>
            <a:off x="3200400" y="3883152"/>
            <a:ext cx="5257800" cy="1069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2400" dirty="0"/>
              <a:t>Nama list  :  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Ukuran</a:t>
            </a: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</a:rPr>
              <a:t> </a:t>
            </a:r>
            <a:r>
              <a:rPr lang="en-US" sz="2400" dirty="0"/>
              <a:t>     </a:t>
            </a: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</a:rPr>
              <a:t>: </a:t>
            </a: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</a:rPr>
              <a:t>10</a:t>
            </a: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533400" y="5105400"/>
            <a:ext cx="8153400" cy="1143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800" dirty="0" err="1"/>
              <a:t>Elemen</a:t>
            </a:r>
            <a:r>
              <a:rPr lang="en-US" sz="2800" dirty="0"/>
              <a:t> list : 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800" dirty="0"/>
              <a:t>   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800" dirty="0"/>
              <a:t>[0] = 8;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800" dirty="0"/>
              <a:t>[1] = 4;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800" dirty="0"/>
              <a:t>[2] = 0;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800" dirty="0"/>
              <a:t>[-1] = 1;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800" dirty="0"/>
              <a:t>[-5] = 9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2872109"/>
              </p:ext>
            </p:extLst>
          </p:nvPr>
        </p:nvGraphicFramePr>
        <p:xfrm>
          <a:off x="599768" y="3160776"/>
          <a:ext cx="8239432" cy="328295"/>
        </p:xfrm>
        <a:graphic>
          <a:graphicData uri="http://schemas.openxmlformats.org/drawingml/2006/table">
            <a:tbl>
              <a:tblPr/>
              <a:tblGrid>
                <a:gridCol w="865252">
                  <a:extLst>
                    <a:ext uri="{9D8B030D-6E8A-4147-A177-3AD203B41FA5}">
                      <a16:colId xmlns:a16="http://schemas.microsoft.com/office/drawing/2014/main" val="3246652787"/>
                    </a:ext>
                  </a:extLst>
                </a:gridCol>
                <a:gridCol w="818732">
                  <a:extLst>
                    <a:ext uri="{9D8B030D-6E8A-4147-A177-3AD203B41FA5}">
                      <a16:colId xmlns:a16="http://schemas.microsoft.com/office/drawing/2014/main" val="4242997009"/>
                    </a:ext>
                  </a:extLst>
                </a:gridCol>
                <a:gridCol w="818732">
                  <a:extLst>
                    <a:ext uri="{9D8B030D-6E8A-4147-A177-3AD203B41FA5}">
                      <a16:colId xmlns:a16="http://schemas.microsoft.com/office/drawing/2014/main" val="2441204133"/>
                    </a:ext>
                  </a:extLst>
                </a:gridCol>
                <a:gridCol w="818732">
                  <a:extLst>
                    <a:ext uri="{9D8B030D-6E8A-4147-A177-3AD203B41FA5}">
                      <a16:colId xmlns:a16="http://schemas.microsoft.com/office/drawing/2014/main" val="2107595281"/>
                    </a:ext>
                  </a:extLst>
                </a:gridCol>
                <a:gridCol w="819664">
                  <a:extLst>
                    <a:ext uri="{9D8B030D-6E8A-4147-A177-3AD203B41FA5}">
                      <a16:colId xmlns:a16="http://schemas.microsoft.com/office/drawing/2014/main" val="4064276070"/>
                    </a:ext>
                  </a:extLst>
                </a:gridCol>
                <a:gridCol w="819664">
                  <a:extLst>
                    <a:ext uri="{9D8B030D-6E8A-4147-A177-3AD203B41FA5}">
                      <a16:colId xmlns:a16="http://schemas.microsoft.com/office/drawing/2014/main" val="1282422510"/>
                    </a:ext>
                  </a:extLst>
                </a:gridCol>
                <a:gridCol w="819664">
                  <a:extLst>
                    <a:ext uri="{9D8B030D-6E8A-4147-A177-3AD203B41FA5}">
                      <a16:colId xmlns:a16="http://schemas.microsoft.com/office/drawing/2014/main" val="4066771229"/>
                    </a:ext>
                  </a:extLst>
                </a:gridCol>
                <a:gridCol w="819664">
                  <a:extLst>
                    <a:ext uri="{9D8B030D-6E8A-4147-A177-3AD203B41FA5}">
                      <a16:colId xmlns:a16="http://schemas.microsoft.com/office/drawing/2014/main" val="1592835787"/>
                    </a:ext>
                  </a:extLst>
                </a:gridCol>
                <a:gridCol w="819664">
                  <a:extLst>
                    <a:ext uri="{9D8B030D-6E8A-4147-A177-3AD203B41FA5}">
                      <a16:colId xmlns:a16="http://schemas.microsoft.com/office/drawing/2014/main" val="1153249997"/>
                    </a:ext>
                  </a:extLst>
                </a:gridCol>
                <a:gridCol w="819664">
                  <a:extLst>
                    <a:ext uri="{9D8B030D-6E8A-4147-A177-3AD203B41FA5}">
                      <a16:colId xmlns:a16="http://schemas.microsoft.com/office/drawing/2014/main" val="6858398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7030A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X[-10]</a:t>
                      </a:r>
                      <a:endParaRPr lang="en-US" sz="1800" dirty="0">
                        <a:solidFill>
                          <a:srgbClr val="7030A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7030A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X[-9]</a:t>
                      </a:r>
                      <a:endParaRPr lang="en-US" sz="1800" dirty="0">
                        <a:solidFill>
                          <a:srgbClr val="7030A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7030A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X[-8]</a:t>
                      </a:r>
                      <a:endParaRPr lang="en-US" sz="1800" dirty="0">
                        <a:solidFill>
                          <a:srgbClr val="7030A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7030A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X[-7]</a:t>
                      </a:r>
                      <a:endParaRPr lang="en-US" sz="1800" dirty="0">
                        <a:solidFill>
                          <a:srgbClr val="7030A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7030A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X[-6]</a:t>
                      </a:r>
                      <a:endParaRPr lang="en-US" sz="1800" dirty="0">
                        <a:solidFill>
                          <a:srgbClr val="7030A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7030A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X[-5]</a:t>
                      </a:r>
                      <a:endParaRPr lang="en-US" sz="1800" dirty="0">
                        <a:solidFill>
                          <a:srgbClr val="7030A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7030A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X[-4]</a:t>
                      </a:r>
                      <a:endParaRPr lang="en-US" sz="1800" dirty="0">
                        <a:solidFill>
                          <a:srgbClr val="7030A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7030A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X[-3]</a:t>
                      </a:r>
                      <a:endParaRPr lang="en-US" sz="1800" dirty="0">
                        <a:solidFill>
                          <a:srgbClr val="7030A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7030A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X[-2]</a:t>
                      </a:r>
                      <a:endParaRPr lang="en-US" sz="1800" dirty="0">
                        <a:solidFill>
                          <a:srgbClr val="7030A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7030A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X[-1]</a:t>
                      </a:r>
                      <a:endParaRPr lang="en-US" sz="1800" dirty="0">
                        <a:solidFill>
                          <a:srgbClr val="7030A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05588307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 build="p"/>
      <p:bldP spid="6" grpId="0" build="p"/>
      <p:bldP spid="10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solidFill>
                  <a:srgbClr val="FF0000"/>
                </a:solidFill>
              </a:rPr>
              <a:t>L</a:t>
            </a:r>
            <a:r>
              <a:rPr lang="en-US" sz="4000" dirty="0">
                <a:solidFill>
                  <a:srgbClr val="7030A0"/>
                </a:solidFill>
              </a:rPr>
              <a:t>ist</a:t>
            </a:r>
            <a:endParaRPr lang="en-US" sz="3600" dirty="0">
              <a:solidFill>
                <a:srgbClr val="7030A0"/>
              </a:solidFill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304800" y="990600"/>
            <a:ext cx="4191000" cy="762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Deklarasi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list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kosong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3962400" y="990600"/>
            <a:ext cx="2209800" cy="76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X=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[]</a:t>
            </a:r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304800" y="1981200"/>
            <a:ext cx="3733800" cy="762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Input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noProof="0" dirty="0" err="1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elemen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1143000" y="2590800"/>
            <a:ext cx="7543800" cy="182880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pPr marL="514350" indent="-514350"/>
            <a:r>
              <a:rPr lang="en-US" sz="2400" dirty="0"/>
              <a:t>X[1]=7          </a:t>
            </a:r>
            <a:r>
              <a:rPr lang="en-US" sz="2400" dirty="0">
                <a:solidFill>
                  <a:srgbClr val="FF0000"/>
                </a:solidFill>
              </a:rPr>
              <a:t>#</a:t>
            </a:r>
            <a:r>
              <a:rPr lang="en-US" sz="2400" dirty="0" err="1">
                <a:solidFill>
                  <a:srgbClr val="FF0000"/>
                </a:solidFill>
              </a:rPr>
              <a:t>mengganti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nilai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pada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indeks</a:t>
            </a:r>
            <a:r>
              <a:rPr lang="en-US" sz="2400" dirty="0">
                <a:solidFill>
                  <a:srgbClr val="FF0000"/>
                </a:solidFill>
              </a:rPr>
              <a:t> 1 dengan7</a:t>
            </a:r>
          </a:p>
          <a:p>
            <a:pPr marL="514350" indent="-514350"/>
            <a:r>
              <a:rPr lang="en-US" sz="2400" dirty="0"/>
              <a:t>X. insert(</a:t>
            </a:r>
            <a:r>
              <a:rPr lang="en-US" sz="2400" dirty="0" err="1"/>
              <a:t>indeks_yg_diisi</a:t>
            </a:r>
            <a:r>
              <a:rPr lang="en-US" sz="2400" dirty="0"/>
              <a:t>, </a:t>
            </a:r>
            <a:r>
              <a:rPr lang="en-US" sz="2400" dirty="0" err="1"/>
              <a:t>nilai_yg-disimpan</a:t>
            </a:r>
            <a:r>
              <a:rPr lang="en-US" sz="2400" dirty="0"/>
              <a:t>)</a:t>
            </a:r>
          </a:p>
          <a:p>
            <a:pPr marL="514350" indent="-514350"/>
            <a:r>
              <a:rPr lang="en-US" sz="2400" dirty="0"/>
              <a:t>	</a:t>
            </a:r>
            <a:r>
              <a:rPr lang="en-US" sz="2400" dirty="0" err="1"/>
              <a:t>contoh</a:t>
            </a:r>
            <a:r>
              <a:rPr lang="en-US" sz="2400" dirty="0"/>
              <a:t>: </a:t>
            </a:r>
          </a:p>
          <a:p>
            <a:pPr marL="514350" indent="-514350"/>
            <a:r>
              <a:rPr lang="en-US" sz="2400" dirty="0"/>
              <a:t>		</a:t>
            </a:r>
            <a:r>
              <a:rPr lang="en-US" sz="2400" dirty="0" err="1"/>
              <a:t>X.insert</a:t>
            </a:r>
            <a:r>
              <a:rPr lang="en-US" sz="2400" dirty="0"/>
              <a:t>(1, ‘A’)</a:t>
            </a:r>
          </a:p>
          <a:p>
            <a:pPr marL="514350" indent="-514350"/>
            <a:r>
              <a:rPr lang="en-US" sz="2400" dirty="0"/>
              <a:t>		</a:t>
            </a:r>
            <a:r>
              <a:rPr lang="en-US" sz="2400" dirty="0" err="1"/>
              <a:t>X.insert</a:t>
            </a:r>
            <a:r>
              <a:rPr lang="en-US" sz="2400" dirty="0"/>
              <a:t>(0, A)</a:t>
            </a:r>
          </a:p>
          <a:p>
            <a:pPr marL="514350" indent="-514350"/>
            <a:r>
              <a:rPr lang="en-US" sz="2400" dirty="0" err="1"/>
              <a:t>X.append</a:t>
            </a:r>
            <a:r>
              <a:rPr lang="en-US" sz="2400" dirty="0"/>
              <a:t>(10)</a:t>
            </a:r>
          </a:p>
          <a:p>
            <a:pPr marL="514350" indent="-514350"/>
            <a:r>
              <a:rPr lang="en-US" sz="2400" dirty="0" err="1"/>
              <a:t>X.append</a:t>
            </a:r>
            <a:r>
              <a:rPr lang="en-US" sz="2400" dirty="0"/>
              <a:t>(</a:t>
            </a:r>
            <a:r>
              <a:rPr lang="en-US" sz="2400" dirty="0" err="1"/>
              <a:t>int</a:t>
            </a:r>
            <a:r>
              <a:rPr lang="en-US" sz="2400" dirty="0"/>
              <a:t>(input(‘x=‘)))</a:t>
            </a:r>
          </a:p>
        </p:txBody>
      </p:sp>
      <p:sp>
        <p:nvSpPr>
          <p:cNvPr id="22" name="Content Placeholder 2"/>
          <p:cNvSpPr txBox="1">
            <a:spLocks/>
          </p:cNvSpPr>
          <p:nvPr/>
        </p:nvSpPr>
        <p:spPr>
          <a:xfrm>
            <a:off x="304800" y="1524000"/>
            <a:ext cx="2667000" cy="762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Inisialisasi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</a:p>
        </p:txBody>
      </p:sp>
      <p:sp>
        <p:nvSpPr>
          <p:cNvPr id="23" name="Content Placeholder 2"/>
          <p:cNvSpPr txBox="1">
            <a:spLocks/>
          </p:cNvSpPr>
          <p:nvPr/>
        </p:nvSpPr>
        <p:spPr>
          <a:xfrm>
            <a:off x="2514600" y="1524000"/>
            <a:ext cx="6248400" cy="76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3200" noProof="0" dirty="0">
                <a:solidFill>
                  <a:srgbClr val="00B050"/>
                </a:solidFill>
              </a:rPr>
              <a:t>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X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=[8, 4, 0, 3, 5, 9</a:t>
            </a:r>
            <a:r>
              <a:rPr lang="en-US" sz="3200" dirty="0"/>
              <a:t>]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4" name="Content Placeholder 2"/>
          <p:cNvSpPr txBox="1">
            <a:spLocks/>
          </p:cNvSpPr>
          <p:nvPr/>
        </p:nvSpPr>
        <p:spPr>
          <a:xfrm>
            <a:off x="304800" y="4419600"/>
            <a:ext cx="3733800" cy="762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Tampilkan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noProof="0" dirty="0" err="1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elemen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</a:p>
        </p:txBody>
      </p:sp>
      <p:sp>
        <p:nvSpPr>
          <p:cNvPr id="25" name="Content Placeholder 2"/>
          <p:cNvSpPr txBox="1">
            <a:spLocks/>
          </p:cNvSpPr>
          <p:nvPr/>
        </p:nvSpPr>
        <p:spPr>
          <a:xfrm>
            <a:off x="1371600" y="4953000"/>
            <a:ext cx="7010400" cy="1600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514350" indent="-514350"/>
            <a:r>
              <a:rPr lang="en-US" sz="2800" dirty="0"/>
              <a:t>print(X)</a:t>
            </a:r>
          </a:p>
          <a:p>
            <a:pPr marL="514350" indent="-514350"/>
            <a:r>
              <a:rPr lang="en-US" sz="2800" dirty="0"/>
              <a:t>print( </a:t>
            </a:r>
            <a:r>
              <a:rPr lang="en-US" sz="2800" dirty="0">
                <a:solidFill>
                  <a:srgbClr val="FF0000"/>
                </a:solidFill>
              </a:rPr>
              <a:t>X[</a:t>
            </a:r>
            <a:r>
              <a:rPr lang="en-US" sz="2800" dirty="0" err="1">
                <a:solidFill>
                  <a:srgbClr val="FF0000"/>
                </a:solidFill>
              </a:rPr>
              <a:t>indeks</a:t>
            </a:r>
            <a:r>
              <a:rPr lang="en-US" sz="2800" dirty="0">
                <a:solidFill>
                  <a:srgbClr val="FF0000"/>
                </a:solidFill>
              </a:rPr>
              <a:t>]</a:t>
            </a:r>
            <a:r>
              <a:rPr lang="en-US" sz="2800" dirty="0"/>
              <a:t>)</a:t>
            </a:r>
          </a:p>
          <a:p>
            <a:pPr marL="514350" indent="-514350"/>
            <a:r>
              <a:rPr lang="en-US" sz="2800" dirty="0"/>
              <a:t>print(X[1:4])</a:t>
            </a:r>
          </a:p>
          <a:p>
            <a:pPr marL="514350" indent="-514350"/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 build="p"/>
      <p:bldP spid="12" grpId="0" build="p"/>
      <p:bldP spid="18" grpId="0" build="p"/>
      <p:bldP spid="19" grpId="0" build="p"/>
      <p:bldP spid="22" grpId="0" build="p"/>
      <p:bldP spid="23" grpId="0" build="p"/>
      <p:bldP spid="24" grpId="0" build="p"/>
      <p:bldP spid="2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6BF14EB-26F1-43C3-A296-A9584F4F4DE0}"/>
              </a:ext>
            </a:extLst>
          </p:cNvPr>
          <p:cNvSpPr txBox="1">
            <a:spLocks/>
          </p:cNvSpPr>
          <p:nvPr/>
        </p:nvSpPr>
        <p:spPr>
          <a:xfrm>
            <a:off x="742622" y="2362200"/>
            <a:ext cx="5200978" cy="281940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</a:rPr>
              <a:t>#Program </a:t>
            </a:r>
            <a:r>
              <a:rPr lang="en-US" sz="2400" dirty="0" err="1">
                <a:solidFill>
                  <a:srgbClr val="FF0000"/>
                </a:solidFill>
              </a:rPr>
              <a:t>Utama</a:t>
            </a:r>
            <a:endParaRPr lang="en-US" sz="24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2400" dirty="0"/>
              <a:t>A=[]</a:t>
            </a:r>
          </a:p>
          <a:p>
            <a:pPr marL="0" indent="0">
              <a:buNone/>
            </a:pPr>
            <a:r>
              <a:rPr lang="en-US" sz="2400" dirty="0"/>
              <a:t>N=</a:t>
            </a:r>
            <a:r>
              <a:rPr lang="en-US" sz="2400" dirty="0" err="1">
                <a:solidFill>
                  <a:srgbClr val="7030A0"/>
                </a:solidFill>
              </a:rPr>
              <a:t>int</a:t>
            </a:r>
            <a:r>
              <a:rPr lang="en-US" sz="2400" dirty="0"/>
              <a:t>(</a:t>
            </a:r>
            <a:r>
              <a:rPr lang="en-US" sz="2400" dirty="0">
                <a:solidFill>
                  <a:srgbClr val="7030A0"/>
                </a:solidFill>
              </a:rPr>
              <a:t>input</a:t>
            </a:r>
            <a:r>
              <a:rPr lang="en-US" sz="2400" dirty="0"/>
              <a:t>(</a:t>
            </a:r>
            <a:r>
              <a:rPr lang="en-US" sz="2400" dirty="0">
                <a:solidFill>
                  <a:srgbClr val="00B050"/>
                </a:solidFill>
              </a:rPr>
              <a:t>'</a:t>
            </a:r>
            <a:r>
              <a:rPr lang="en-US" sz="2400" dirty="0" err="1">
                <a:solidFill>
                  <a:srgbClr val="00B050"/>
                </a:solidFill>
              </a:rPr>
              <a:t>Banyak</a:t>
            </a:r>
            <a:r>
              <a:rPr lang="en-US" sz="2400" dirty="0">
                <a:solidFill>
                  <a:srgbClr val="00B050"/>
                </a:solidFill>
              </a:rPr>
              <a:t> data='</a:t>
            </a:r>
            <a:r>
              <a:rPr lang="en-US" sz="2400" dirty="0"/>
              <a:t>))</a:t>
            </a:r>
          </a:p>
          <a:p>
            <a:pPr marL="0" indent="0">
              <a:buNone/>
            </a:pPr>
            <a:r>
              <a:rPr lang="en-US" sz="2400" dirty="0"/>
              <a:t>Isi1(A, N)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7030A0"/>
                </a:solidFill>
              </a:rPr>
              <a:t>print</a:t>
            </a:r>
            <a:r>
              <a:rPr lang="en-US" sz="2400" dirty="0"/>
              <a:t>()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7030A0"/>
                </a:solidFill>
              </a:rPr>
              <a:t>print</a:t>
            </a:r>
            <a:r>
              <a:rPr lang="en-US" sz="2400" dirty="0"/>
              <a:t>(</a:t>
            </a:r>
            <a:r>
              <a:rPr lang="en-US" sz="2400" dirty="0">
                <a:solidFill>
                  <a:srgbClr val="00B050"/>
                </a:solidFill>
              </a:rPr>
              <a:t>'List A'</a:t>
            </a:r>
            <a:r>
              <a:rPr lang="en-US" sz="2400" dirty="0"/>
              <a:t>);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7030A0"/>
                </a:solidFill>
              </a:rPr>
              <a:t>print</a:t>
            </a:r>
            <a:r>
              <a:rPr lang="en-US" sz="2400" dirty="0"/>
              <a:t>(A)</a:t>
            </a:r>
          </a:p>
          <a:p>
            <a:pPr marL="0" indent="0">
              <a:buNone/>
            </a:pPr>
            <a:endParaRPr lang="en-SG" sz="1800" dirty="0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92368" y="150725"/>
            <a:ext cx="8194431" cy="641437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 err="1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Contoh</a:t>
            </a:r>
            <a:r>
              <a:rPr lang="en-US" sz="28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 Program </a:t>
            </a:r>
            <a:r>
              <a:rPr lang="en-US" sz="2800" b="1" dirty="0" err="1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Membangun</a:t>
            </a:r>
            <a:r>
              <a:rPr lang="en-US" sz="28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 List</a:t>
            </a:r>
            <a:endParaRPr lang="en-US" sz="2400" b="1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pic>
        <p:nvPicPr>
          <p:cNvPr id="2" name="Picture 1" descr="Screen Clippi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858"/>
          <a:stretch/>
        </p:blipFill>
        <p:spPr>
          <a:xfrm>
            <a:off x="570161" y="1066800"/>
            <a:ext cx="5525839" cy="1295400"/>
          </a:xfrm>
          <a:prstGeom prst="rect">
            <a:avLst/>
          </a:prstGeom>
        </p:spPr>
      </p:pic>
      <p:grpSp>
        <p:nvGrpSpPr>
          <p:cNvPr id="12" name="Group 11"/>
          <p:cNvGrpSpPr/>
          <p:nvPr/>
        </p:nvGrpSpPr>
        <p:grpSpPr>
          <a:xfrm>
            <a:off x="6526924" y="1219200"/>
            <a:ext cx="2499687" cy="1066800"/>
            <a:chOff x="6526924" y="1219200"/>
            <a:chExt cx="2499687" cy="1066800"/>
          </a:xfrm>
        </p:grpSpPr>
        <p:sp>
          <p:nvSpPr>
            <p:cNvPr id="6" name="Oval Callout 5"/>
            <p:cNvSpPr/>
            <p:nvPr/>
          </p:nvSpPr>
          <p:spPr>
            <a:xfrm>
              <a:off x="6526924" y="1219200"/>
              <a:ext cx="2499687" cy="1066800"/>
            </a:xfrm>
            <a:prstGeom prst="wedgeEllipseCallout">
              <a:avLst>
                <a:gd name="adj1" fmla="val -59096"/>
                <a:gd name="adj2" fmla="val 16194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 err="1"/>
                <a:t>Membangun</a:t>
              </a:r>
              <a:r>
                <a:rPr lang="en-US" dirty="0"/>
                <a:t> list </a:t>
              </a:r>
              <a:r>
                <a:rPr lang="en-US" dirty="0" err="1"/>
                <a:t>dengan</a:t>
              </a:r>
              <a:r>
                <a:rPr lang="en-US" dirty="0"/>
                <a:t> </a:t>
              </a:r>
              <a:r>
                <a:rPr lang="en-US" dirty="0" err="1"/>
                <a:t>melalui</a:t>
              </a:r>
              <a:r>
                <a:rPr lang="en-US" dirty="0"/>
                <a:t> </a:t>
              </a:r>
              <a:r>
                <a:rPr lang="en-US" dirty="0" err="1"/>
                <a:t>inputan</a:t>
              </a:r>
              <a:r>
                <a:rPr lang="en-US" dirty="0"/>
                <a:t> </a:t>
              </a:r>
              <a:r>
                <a:rPr lang="en-US" dirty="0" err="1"/>
                <a:t>nilai</a:t>
              </a:r>
              <a:r>
                <a:rPr lang="en-US" dirty="0"/>
                <a:t> </a:t>
              </a:r>
              <a:r>
                <a:rPr lang="en-US" dirty="0" err="1"/>
                <a:t>dari</a:t>
              </a:r>
              <a:r>
                <a:rPr lang="en-US" dirty="0"/>
                <a:t> </a:t>
              </a:r>
              <a:r>
                <a:rPr lang="en-US" dirty="0" err="1"/>
                <a:t>pengguna</a:t>
              </a:r>
              <a:endParaRPr lang="en-US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553200" y="1295400"/>
              <a:ext cx="2057400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400" dirty="0" err="1"/>
                <a:t>Membangun</a:t>
              </a:r>
              <a:r>
                <a:rPr lang="en-US" sz="1400" dirty="0"/>
                <a:t> list </a:t>
              </a:r>
              <a:r>
                <a:rPr lang="en-US" sz="1400" dirty="0" err="1"/>
                <a:t>dengan</a:t>
              </a:r>
              <a:r>
                <a:rPr lang="en-US" sz="1400" dirty="0"/>
                <a:t> </a:t>
              </a:r>
              <a:r>
                <a:rPr lang="en-US" sz="1400" dirty="0" err="1"/>
                <a:t>memanfaatkan</a:t>
              </a:r>
              <a:r>
                <a:rPr lang="en-US" sz="1400" dirty="0"/>
                <a:t> </a:t>
              </a:r>
              <a:r>
                <a:rPr lang="en-US" sz="1400" dirty="0" err="1"/>
                <a:t>inputan</a:t>
              </a:r>
              <a:r>
                <a:rPr lang="en-US" sz="1400" dirty="0"/>
                <a:t> </a:t>
              </a:r>
              <a:r>
                <a:rPr lang="en-US" sz="1400" dirty="0" err="1"/>
                <a:t>nilai</a:t>
              </a:r>
              <a:r>
                <a:rPr lang="en-US" sz="1400" dirty="0"/>
                <a:t> </a:t>
              </a:r>
              <a:r>
                <a:rPr lang="en-US" sz="1400" dirty="0" err="1"/>
                <a:t>dari</a:t>
              </a:r>
              <a:r>
                <a:rPr lang="en-US" sz="1400" dirty="0"/>
                <a:t> </a:t>
              </a:r>
              <a:r>
                <a:rPr lang="en-US" sz="1400" dirty="0" err="1"/>
                <a:t>pengguna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537733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Autofit/>
          </a:bodyPr>
          <a:lstStyle/>
          <a:p>
            <a:pPr algn="l"/>
            <a:r>
              <a:rPr lang="en-US" sz="32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Penanganan</a:t>
            </a:r>
            <a:r>
              <a:rPr lang="en-US" sz="3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List-1</a:t>
            </a:r>
            <a:endParaRPr lang="en-US" sz="2800" b="1" dirty="0">
              <a:ln w="13462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304800" y="990600"/>
            <a:ext cx="6858000" cy="76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Gabungkan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dua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atau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lebih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list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921331" y="2743200"/>
            <a:ext cx="3733800" cy="762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Hasil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print(C):</a:t>
            </a:r>
          </a:p>
        </p:txBody>
      </p:sp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997" y="1600200"/>
            <a:ext cx="3004111" cy="1005840"/>
          </a:xfrm>
          <a:prstGeom prst="rect">
            <a:avLst/>
          </a:prstGeom>
        </p:spPr>
      </p:pic>
      <p:pic>
        <p:nvPicPr>
          <p:cNvPr id="7" name="Picture 6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3413760"/>
            <a:ext cx="4389126" cy="548640"/>
          </a:xfrm>
          <a:prstGeom prst="rect">
            <a:avLst/>
          </a:prstGeom>
        </p:spPr>
      </p:pic>
      <p:pic>
        <p:nvPicPr>
          <p:cNvPr id="8" name="Picture 7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398" y="4678680"/>
            <a:ext cx="1436439" cy="731520"/>
          </a:xfrm>
          <a:prstGeom prst="rect">
            <a:avLst/>
          </a:prstGeom>
        </p:spPr>
      </p:pic>
      <p:sp>
        <p:nvSpPr>
          <p:cNvPr id="18" name="Content Placeholder 2"/>
          <p:cNvSpPr txBox="1">
            <a:spLocks/>
          </p:cNvSpPr>
          <p:nvPr/>
        </p:nvSpPr>
        <p:spPr>
          <a:xfrm>
            <a:off x="457200" y="3962400"/>
            <a:ext cx="6858000" cy="76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Perkalian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dengan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bilangan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bulat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838200" y="5410200"/>
            <a:ext cx="3733800" cy="762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Hasil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</a:p>
        </p:txBody>
      </p:sp>
      <p:pic>
        <p:nvPicPr>
          <p:cNvPr id="9" name="Picture 8" descr="Screen Clippi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5943600"/>
            <a:ext cx="5186866" cy="457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 build="p"/>
      <p:bldP spid="15" grpId="0" build="p"/>
      <p:bldP spid="18" grpId="0" build="p"/>
      <p:bldP spid="19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Autofit/>
          </a:bodyPr>
          <a:lstStyle/>
          <a:p>
            <a:pPr algn="l"/>
            <a:r>
              <a:rPr lang="en-US" sz="32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Penanganan</a:t>
            </a:r>
            <a:r>
              <a:rPr lang="en-US" sz="3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List-2</a:t>
            </a:r>
            <a:endParaRPr lang="en-US" sz="2800" b="1" dirty="0">
              <a:ln w="13462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304800" y="990600"/>
            <a:ext cx="6858000" cy="76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Kalikan</a:t>
            </a:r>
            <a:r>
              <a:rPr kumimoji="0" lang="en-US" sz="32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noProof="0" dirty="0" err="1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semua</a:t>
            </a:r>
            <a:r>
              <a:rPr kumimoji="0" lang="en-US" sz="32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noProof="0" dirty="0" err="1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elemen</a:t>
            </a:r>
            <a:r>
              <a:rPr kumimoji="0" lang="en-US" sz="32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list A </a:t>
            </a:r>
            <a:r>
              <a:rPr kumimoji="0" lang="en-US" sz="3200" b="0" i="0" u="none" strike="noStrike" kern="1200" cap="none" spc="0" normalizeH="0" noProof="0" dirty="0" err="1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dengan</a:t>
            </a:r>
            <a:r>
              <a:rPr kumimoji="0" lang="en-US" sz="32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</a:p>
        </p:txBody>
      </p:sp>
      <p:sp>
        <p:nvSpPr>
          <p:cNvPr id="24" name="Content Placeholder 2"/>
          <p:cNvSpPr txBox="1">
            <a:spLocks/>
          </p:cNvSpPr>
          <p:nvPr/>
        </p:nvSpPr>
        <p:spPr>
          <a:xfrm>
            <a:off x="762000" y="1524000"/>
            <a:ext cx="3733800" cy="762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Cara 1:</a:t>
            </a:r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762000" y="3048000"/>
            <a:ext cx="3733800" cy="762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Hasil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print(E):</a:t>
            </a:r>
          </a:p>
        </p:txBody>
      </p:sp>
      <p:pic>
        <p:nvPicPr>
          <p:cNvPr id="3" name="Picture 2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599" y="2120884"/>
            <a:ext cx="3686866" cy="822960"/>
          </a:xfrm>
          <a:prstGeom prst="rect">
            <a:avLst/>
          </a:prstGeom>
        </p:spPr>
      </p:pic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870" y="3581400"/>
            <a:ext cx="3014130" cy="457200"/>
          </a:xfrm>
          <a:prstGeom prst="rect">
            <a:avLst/>
          </a:prstGeom>
        </p:spPr>
      </p:pic>
      <p:sp>
        <p:nvSpPr>
          <p:cNvPr id="12" name="Content Placeholder 2"/>
          <p:cNvSpPr txBox="1">
            <a:spLocks/>
          </p:cNvSpPr>
          <p:nvPr/>
        </p:nvSpPr>
        <p:spPr>
          <a:xfrm>
            <a:off x="838200" y="4114800"/>
            <a:ext cx="3733800" cy="762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Cara 2:</a:t>
            </a:r>
          </a:p>
        </p:txBody>
      </p:sp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866" y="4695821"/>
            <a:ext cx="3866872" cy="128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141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 build="p"/>
      <p:bldP spid="24" grpId="0" build="p"/>
      <p:bldP spid="15" grpId="0" build="p"/>
      <p:bldP spid="12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0555"/>
            <a:ext cx="8229600" cy="1143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85800" y="2286000"/>
            <a:ext cx="80010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Kalikan</a:t>
            </a:r>
            <a:r>
              <a:rPr kumimoji="0" lang="en-US" sz="32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</a:rPr>
              <a:t> </a:t>
            </a:r>
            <a:r>
              <a:rPr kumimoji="0" lang="en-US" sz="3200" b="0" i="0" u="none" strike="noStrike" kern="1200" cap="none" spc="0" normalizeH="0" noProof="0" dirty="0" err="1">
                <a:ln>
                  <a:noFill/>
                </a:ln>
                <a:effectLst/>
                <a:uLnTx/>
                <a:uFillTx/>
              </a:rPr>
              <a:t>semua</a:t>
            </a:r>
            <a:r>
              <a:rPr kumimoji="0" lang="en-US" sz="32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</a:rPr>
              <a:t> </a:t>
            </a:r>
            <a:r>
              <a:rPr kumimoji="0" lang="en-US" sz="3200" b="0" i="0" u="none" strike="noStrike" kern="1200" cap="none" spc="0" normalizeH="0" noProof="0" dirty="0" err="1">
                <a:ln>
                  <a:noFill/>
                </a:ln>
                <a:effectLst/>
                <a:uLnTx/>
                <a:uFillTx/>
              </a:rPr>
              <a:t>elemen</a:t>
            </a:r>
            <a:r>
              <a:rPr kumimoji="0" lang="en-US" sz="32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</a:rPr>
              <a:t> list A </a:t>
            </a:r>
            <a:r>
              <a:rPr kumimoji="0" lang="en-US" sz="3200" b="0" i="0" u="none" strike="noStrike" kern="1200" cap="none" spc="0" normalizeH="0" noProof="0" dirty="0" err="1">
                <a:ln>
                  <a:noFill/>
                </a:ln>
                <a:effectLst/>
                <a:uLnTx/>
                <a:uFillTx/>
              </a:rPr>
              <a:t>dengan</a:t>
            </a:r>
            <a:r>
              <a:rPr kumimoji="0" lang="en-US" sz="32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semua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elemen</a:t>
            </a:r>
            <a:r>
              <a:rPr lang="en-US" sz="3200" dirty="0">
                <a:solidFill>
                  <a:srgbClr val="FF0000"/>
                </a:solidFill>
              </a:rPr>
              <a:t> list B yang </a:t>
            </a:r>
            <a:r>
              <a:rPr lang="en-US" sz="3200" dirty="0" err="1">
                <a:solidFill>
                  <a:srgbClr val="FF0000"/>
                </a:solidFill>
              </a:rPr>
              <a:t>bersesuaian</a:t>
            </a:r>
            <a:r>
              <a:rPr lang="en-US" sz="3200" dirty="0"/>
              <a:t>?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24237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 err="1"/>
              <a:t>Beberapa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penanganan</a:t>
            </a:r>
            <a:r>
              <a:rPr lang="en-US" dirty="0"/>
              <a:t>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52600" y="1600200"/>
            <a:ext cx="6934200" cy="4525963"/>
          </a:xfrm>
        </p:spPr>
        <p:txBody>
          <a:bodyPr/>
          <a:lstStyle/>
          <a:p>
            <a:r>
              <a:rPr lang="en-US" dirty="0"/>
              <a:t>sum (List)</a:t>
            </a:r>
          </a:p>
          <a:p>
            <a:r>
              <a:rPr lang="en-US" dirty="0"/>
              <a:t>max (List)</a:t>
            </a:r>
          </a:p>
          <a:p>
            <a:r>
              <a:rPr lang="en-US" dirty="0"/>
              <a:t>min (List)</a:t>
            </a:r>
          </a:p>
          <a:p>
            <a:r>
              <a:rPr lang="en-US" dirty="0"/>
              <a:t>value  in List</a:t>
            </a:r>
          </a:p>
          <a:p>
            <a:r>
              <a:rPr lang="en-US" dirty="0" err="1"/>
              <a:t>List.count</a:t>
            </a:r>
            <a:r>
              <a:rPr lang="en-US"/>
              <a:t>(value) </a:t>
            </a:r>
            <a:endParaRPr lang="en-US" dirty="0"/>
          </a:p>
          <a:p>
            <a:r>
              <a:rPr lang="en-US" dirty="0" err="1"/>
              <a:t>List.sort</a:t>
            </a:r>
            <a:r>
              <a:rPr lang="en-US" dirty="0"/>
              <a:t>()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706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4B5B11FD-0317-4207-95C1-9F1EBD52C97B}" type="slidenum">
              <a:rPr lang="en-US" altLang="id-ID" sz="1400"/>
              <a:pPr>
                <a:spcBef>
                  <a:spcPct val="50000"/>
                </a:spcBef>
                <a:buClrTx/>
                <a:buSzTx/>
                <a:buFontTx/>
                <a:buNone/>
              </a:pPr>
              <a:t>10</a:t>
            </a:fld>
            <a:endParaRPr lang="en-US" altLang="id-ID" sz="1400"/>
          </a:p>
        </p:txBody>
      </p:sp>
      <p:pic>
        <p:nvPicPr>
          <p:cNvPr id="6" name="Picture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611" y="5260428"/>
            <a:ext cx="3930650" cy="1311276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457200" y="274638"/>
            <a:ext cx="8229600" cy="6397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Penanganan</a:t>
            </a:r>
            <a:r>
              <a:rPr lang="en-US" sz="3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List-3</a:t>
            </a:r>
            <a:endParaRPr lang="en-US" sz="2800" b="1" dirty="0">
              <a:ln w="13462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304800" y="990600"/>
            <a:ext cx="6858000" cy="76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2800" dirty="0">
                <a:solidFill>
                  <a:srgbClr val="FF0000"/>
                </a:solidFill>
              </a:rPr>
              <a:t>J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umlahkan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noProof="0" dirty="0" err="1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semua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noProof="0" dirty="0" err="1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elemen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list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762000" y="1524000"/>
            <a:ext cx="3733800" cy="762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Cara 1:</a:t>
            </a: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762000" y="3124200"/>
            <a:ext cx="3733800" cy="762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Cara 2:</a:t>
            </a:r>
          </a:p>
        </p:txBody>
      </p:sp>
      <p:pic>
        <p:nvPicPr>
          <p:cNvPr id="12" name="Picture 11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3657600"/>
            <a:ext cx="4098925" cy="1333500"/>
          </a:xfrm>
          <a:prstGeom prst="rect">
            <a:avLst/>
          </a:prstGeom>
        </p:spPr>
      </p:pic>
      <p:sp>
        <p:nvSpPr>
          <p:cNvPr id="10" name="Content Placeholder 2"/>
          <p:cNvSpPr txBox="1">
            <a:spLocks/>
          </p:cNvSpPr>
          <p:nvPr/>
        </p:nvSpPr>
        <p:spPr>
          <a:xfrm>
            <a:off x="762000" y="4800600"/>
            <a:ext cx="3733800" cy="762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Cara </a:t>
            </a:r>
            <a:r>
              <a:rPr lang="en-US" sz="2400" dirty="0"/>
              <a:t>3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</a:p>
        </p:txBody>
      </p:sp>
      <p:pic>
        <p:nvPicPr>
          <p:cNvPr id="2" name="Picture 1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3288" y="2093398"/>
            <a:ext cx="4226012" cy="8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51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build="p"/>
      <p:bldP spid="9" grpId="0" build="p"/>
      <p:bldP spid="11" grpId="0" build="p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en-US" sz="2800" dirty="0" err="1"/>
              <a:t>Algoritma</a:t>
            </a:r>
            <a:r>
              <a:rPr lang="en-US" sz="2800" dirty="0"/>
              <a:t> </a:t>
            </a:r>
            <a:r>
              <a:rPr lang="en-US" sz="2800" dirty="0" err="1"/>
              <a:t>dasar</a:t>
            </a:r>
            <a:r>
              <a:rPr lang="en-US" sz="2800" dirty="0"/>
              <a:t> </a:t>
            </a:r>
            <a:r>
              <a:rPr lang="en-US" sz="2800" dirty="0" err="1"/>
              <a:t>menentukan</a:t>
            </a:r>
            <a:r>
              <a:rPr lang="en-US" sz="2800" dirty="0"/>
              <a:t> </a:t>
            </a:r>
            <a:r>
              <a:rPr lang="en-US" sz="2800" dirty="0" err="1"/>
              <a:t>bilangan</a:t>
            </a:r>
            <a:r>
              <a:rPr lang="en-US" sz="2800" dirty="0"/>
              <a:t> </a:t>
            </a:r>
            <a:r>
              <a:rPr lang="en-US" sz="2800" dirty="0" err="1"/>
              <a:t>terbesar</a:t>
            </a:r>
            <a:r>
              <a:rPr lang="en-US" sz="2800" dirty="0"/>
              <a:t> </a:t>
            </a:r>
            <a:r>
              <a:rPr lang="en-US" sz="2800" dirty="0" err="1"/>
              <a:t>dari</a:t>
            </a:r>
            <a:r>
              <a:rPr lang="en-US" sz="2800" dirty="0"/>
              <a:t> </a:t>
            </a:r>
            <a:r>
              <a:rPr lang="en-US" sz="2800" dirty="0" err="1"/>
              <a:t>suatu</a:t>
            </a:r>
            <a:r>
              <a:rPr lang="en-US" sz="2800" dirty="0"/>
              <a:t> list, </a:t>
            </a:r>
            <a:r>
              <a:rPr lang="en-US" sz="2800" dirty="0" err="1"/>
              <a:t>dengan</a:t>
            </a:r>
            <a:r>
              <a:rPr lang="en-US" sz="2800" dirty="0"/>
              <a:t> </a:t>
            </a:r>
            <a:r>
              <a:rPr lang="en-US" sz="2800" dirty="0" err="1"/>
              <a:t>banyak</a:t>
            </a:r>
            <a:r>
              <a:rPr lang="en-US" sz="2800" dirty="0"/>
              <a:t> </a:t>
            </a:r>
            <a:r>
              <a:rPr lang="en-US" sz="2800" dirty="0" err="1"/>
              <a:t>elemen</a:t>
            </a:r>
            <a:r>
              <a:rPr lang="en-US" sz="2800" dirty="0"/>
              <a:t> N</a:t>
            </a:r>
            <a:endParaRPr lang="en-US" sz="2800" dirty="0">
              <a:solidFill>
                <a:srgbClr val="92D050"/>
              </a:solidFill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315310" y="2732690"/>
            <a:ext cx="8142890" cy="6963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800" dirty="0">
              <a:solidFill>
                <a:srgbClr val="92D050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066800" y="2438400"/>
            <a:ext cx="6324600" cy="2362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AutoNum type="arabicPeriod"/>
            </a:pPr>
            <a:r>
              <a:rPr lang="en-US" sz="2800" dirty="0" err="1">
                <a:latin typeface="Bookman Old Style" panose="02050604050505020204" pitchFamily="18" charset="0"/>
              </a:rPr>
              <a:t>Maks</a:t>
            </a:r>
            <a:r>
              <a:rPr lang="en-US" sz="2800" dirty="0">
                <a:latin typeface="Bookman Old Style" panose="02050604050505020204" pitchFamily="18" charset="0"/>
              </a:rPr>
              <a:t> = </a:t>
            </a:r>
            <a:r>
              <a:rPr lang="en-US" sz="2800" dirty="0" err="1">
                <a:latin typeface="Bookman Old Style" panose="02050604050505020204" pitchFamily="18" charset="0"/>
              </a:rPr>
              <a:t>listKu</a:t>
            </a:r>
            <a:r>
              <a:rPr lang="en-US" sz="2800" dirty="0">
                <a:latin typeface="Bookman Old Style" panose="02050604050505020204" pitchFamily="18" charset="0"/>
              </a:rPr>
              <a:t>[0]</a:t>
            </a:r>
          </a:p>
          <a:p>
            <a:pPr marL="514350" indent="-514350">
              <a:buAutoNum type="arabicPeriod"/>
            </a:pPr>
            <a:r>
              <a:rPr lang="en-US" sz="2800" dirty="0">
                <a:solidFill>
                  <a:srgbClr val="92D050"/>
                </a:solidFill>
                <a:latin typeface="Bookman Old Style" panose="02050604050505020204" pitchFamily="18" charset="0"/>
              </a:rPr>
              <a:t>for </a:t>
            </a:r>
            <a:r>
              <a:rPr lang="en-US" sz="2800" dirty="0" err="1">
                <a:solidFill>
                  <a:srgbClr val="92D050"/>
                </a:solidFill>
                <a:latin typeface="Bookman Old Style" panose="02050604050505020204" pitchFamily="18" charset="0"/>
              </a:rPr>
              <a:t>i</a:t>
            </a:r>
            <a:r>
              <a:rPr lang="en-US" sz="2800" dirty="0">
                <a:solidFill>
                  <a:srgbClr val="92D050"/>
                </a:solidFill>
                <a:latin typeface="Bookman Old Style" panose="02050604050505020204" pitchFamily="18" charset="0"/>
              </a:rPr>
              <a:t> in range (1, </a:t>
            </a:r>
            <a:r>
              <a:rPr lang="en-US" sz="2800" dirty="0" err="1">
                <a:solidFill>
                  <a:srgbClr val="92D050"/>
                </a:solidFill>
                <a:latin typeface="Bookman Old Style" panose="02050604050505020204" pitchFamily="18" charset="0"/>
              </a:rPr>
              <a:t>len</a:t>
            </a:r>
            <a:r>
              <a:rPr lang="en-US" sz="2800" dirty="0">
                <a:solidFill>
                  <a:srgbClr val="92D050"/>
                </a:solidFill>
                <a:latin typeface="Bookman Old Style" panose="02050604050505020204" pitchFamily="18" charset="0"/>
              </a:rPr>
              <a:t>(</a:t>
            </a:r>
            <a:r>
              <a:rPr lang="en-US" sz="2800" dirty="0" err="1">
                <a:solidFill>
                  <a:srgbClr val="92D050"/>
                </a:solidFill>
                <a:latin typeface="Bookman Old Style" panose="02050604050505020204" pitchFamily="18" charset="0"/>
              </a:rPr>
              <a:t>listKu</a:t>
            </a:r>
            <a:r>
              <a:rPr lang="en-US" sz="2800" dirty="0">
                <a:solidFill>
                  <a:srgbClr val="92D050"/>
                </a:solidFill>
                <a:latin typeface="Bookman Old Style" panose="02050604050505020204" pitchFamily="18" charset="0"/>
              </a:rPr>
              <a:t>)):</a:t>
            </a:r>
          </a:p>
          <a:p>
            <a:pPr marL="514350" indent="-514350">
              <a:buAutoNum type="arabicPeriod"/>
            </a:pPr>
            <a:r>
              <a:rPr lang="en-US" sz="2800" dirty="0">
                <a:solidFill>
                  <a:srgbClr val="92D050"/>
                </a:solidFill>
                <a:latin typeface="Bookman Old Style" panose="02050604050505020204" pitchFamily="18" charset="0"/>
              </a:rPr>
              <a:t>     if </a:t>
            </a:r>
            <a:r>
              <a:rPr lang="en-US" sz="2800" dirty="0" err="1">
                <a:solidFill>
                  <a:srgbClr val="92D050"/>
                </a:solidFill>
                <a:latin typeface="Bookman Old Style" panose="02050604050505020204" pitchFamily="18" charset="0"/>
              </a:rPr>
              <a:t>listKu</a:t>
            </a:r>
            <a:r>
              <a:rPr lang="en-US" sz="2800" dirty="0">
                <a:solidFill>
                  <a:srgbClr val="92D050"/>
                </a:solidFill>
                <a:latin typeface="Bookman Old Style" panose="02050604050505020204" pitchFamily="18" charset="0"/>
              </a:rPr>
              <a:t>[</a:t>
            </a:r>
            <a:r>
              <a:rPr lang="en-US" sz="2800" dirty="0" err="1">
                <a:solidFill>
                  <a:srgbClr val="92D050"/>
                </a:solidFill>
                <a:latin typeface="Bookman Old Style" panose="02050604050505020204" pitchFamily="18" charset="0"/>
              </a:rPr>
              <a:t>i</a:t>
            </a:r>
            <a:r>
              <a:rPr lang="en-US" sz="2800" dirty="0">
                <a:solidFill>
                  <a:srgbClr val="92D050"/>
                </a:solidFill>
                <a:latin typeface="Bookman Old Style" panose="02050604050505020204" pitchFamily="18" charset="0"/>
              </a:rPr>
              <a:t>] &gt; </a:t>
            </a:r>
            <a:r>
              <a:rPr lang="en-US" sz="2800" dirty="0" err="1">
                <a:solidFill>
                  <a:srgbClr val="92D050"/>
                </a:solidFill>
                <a:latin typeface="Bookman Old Style" panose="02050604050505020204" pitchFamily="18" charset="0"/>
              </a:rPr>
              <a:t>Maks</a:t>
            </a:r>
            <a:r>
              <a:rPr lang="en-US" sz="2800" dirty="0">
                <a:solidFill>
                  <a:srgbClr val="92D050"/>
                </a:solidFill>
                <a:latin typeface="Bookman Old Style" panose="02050604050505020204" pitchFamily="18" charset="0"/>
              </a:rPr>
              <a:t>:</a:t>
            </a:r>
          </a:p>
          <a:p>
            <a:pPr marL="514350" indent="-514350">
              <a:buAutoNum type="arabicPeriod"/>
            </a:pPr>
            <a:r>
              <a:rPr lang="en-US" sz="2800" dirty="0">
                <a:solidFill>
                  <a:srgbClr val="92D050"/>
                </a:solidFill>
                <a:latin typeface="Bookman Old Style" panose="02050604050505020204" pitchFamily="18" charset="0"/>
              </a:rPr>
              <a:t>         </a:t>
            </a:r>
            <a:r>
              <a:rPr lang="en-US" sz="2800" dirty="0" err="1">
                <a:solidFill>
                  <a:srgbClr val="92D050"/>
                </a:solidFill>
                <a:latin typeface="Bookman Old Style" panose="02050604050505020204" pitchFamily="18" charset="0"/>
              </a:rPr>
              <a:t>Maks</a:t>
            </a:r>
            <a:r>
              <a:rPr lang="en-US" sz="2800" dirty="0">
                <a:solidFill>
                  <a:srgbClr val="92D050"/>
                </a:solidFill>
                <a:latin typeface="Bookman Old Style" panose="02050604050505020204" pitchFamily="18" charset="0"/>
              </a:rPr>
              <a:t> = </a:t>
            </a:r>
            <a:r>
              <a:rPr lang="en-US" sz="2800" dirty="0" err="1">
                <a:solidFill>
                  <a:srgbClr val="92D050"/>
                </a:solidFill>
                <a:latin typeface="Bookman Old Style" panose="02050604050505020204" pitchFamily="18" charset="0"/>
              </a:rPr>
              <a:t>listKu</a:t>
            </a:r>
            <a:r>
              <a:rPr lang="en-US" sz="2800" dirty="0">
                <a:solidFill>
                  <a:srgbClr val="92D050"/>
                </a:solidFill>
                <a:latin typeface="Bookman Old Style" panose="02050604050505020204" pitchFamily="18" charset="0"/>
              </a:rPr>
              <a:t>[</a:t>
            </a:r>
            <a:r>
              <a:rPr lang="en-US" sz="2800" dirty="0" err="1">
                <a:solidFill>
                  <a:srgbClr val="92D050"/>
                </a:solidFill>
                <a:latin typeface="Bookman Old Style" panose="02050604050505020204" pitchFamily="18" charset="0"/>
              </a:rPr>
              <a:t>i</a:t>
            </a:r>
            <a:r>
              <a:rPr lang="en-US" sz="2800" dirty="0">
                <a:solidFill>
                  <a:srgbClr val="92D050"/>
                </a:solidFill>
                <a:latin typeface="Bookman Old Style" panose="02050604050505020204" pitchFamily="18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293563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4B5B11FD-0317-4207-95C1-9F1EBD52C97B}" type="slidenum">
              <a:rPr lang="en-US" altLang="id-ID" sz="1400"/>
              <a:pPr>
                <a:spcBef>
                  <a:spcPct val="50000"/>
                </a:spcBef>
                <a:buClrTx/>
                <a:buSzTx/>
                <a:buFontTx/>
                <a:buNone/>
              </a:pPr>
              <a:t>12</a:t>
            </a:fld>
            <a:endParaRPr lang="en-US" altLang="id-ID" sz="1400" dirty="0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57200" y="274638"/>
            <a:ext cx="8229600" cy="6397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Penanganan</a:t>
            </a:r>
            <a:r>
              <a:rPr lang="en-US" sz="3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List-4</a:t>
            </a:r>
            <a:endParaRPr lang="en-US" sz="2800" b="1" dirty="0">
              <a:ln w="13462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304800" y="990600"/>
            <a:ext cx="6858000" cy="76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2800" dirty="0" err="1">
                <a:solidFill>
                  <a:srgbClr val="FF0000"/>
                </a:solidFill>
              </a:rPr>
              <a:t>Mengurutkan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noProof="0" dirty="0" err="1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semua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noProof="0" dirty="0" err="1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elemen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list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762000" y="1524000"/>
            <a:ext cx="3733800" cy="762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Cara 1:</a:t>
            </a:r>
          </a:p>
        </p:txBody>
      </p:sp>
      <p:pic>
        <p:nvPicPr>
          <p:cNvPr id="3" name="Picture 2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003406"/>
            <a:ext cx="7962561" cy="1371600"/>
          </a:xfrm>
          <a:prstGeom prst="rect">
            <a:avLst/>
          </a:prstGeom>
        </p:spPr>
      </p:pic>
      <p:sp>
        <p:nvSpPr>
          <p:cNvPr id="13" name="Content Placeholder 2"/>
          <p:cNvSpPr txBox="1">
            <a:spLocks/>
          </p:cNvSpPr>
          <p:nvPr/>
        </p:nvSpPr>
        <p:spPr>
          <a:xfrm>
            <a:off x="914400" y="3429000"/>
            <a:ext cx="3733800" cy="762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Hasil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8825" y="3425825"/>
            <a:ext cx="6350" cy="6350"/>
          </a:xfrm>
          <a:prstGeom prst="rect">
            <a:avLst/>
          </a:prstGeom>
        </p:spPr>
      </p:pic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41" y="3944115"/>
            <a:ext cx="7632659" cy="640080"/>
          </a:xfrm>
          <a:prstGeom prst="rect">
            <a:avLst/>
          </a:prstGeom>
        </p:spPr>
      </p:pic>
      <p:sp>
        <p:nvSpPr>
          <p:cNvPr id="15" name="Content Placeholder 2"/>
          <p:cNvSpPr txBox="1">
            <a:spLocks/>
          </p:cNvSpPr>
          <p:nvPr/>
        </p:nvSpPr>
        <p:spPr>
          <a:xfrm>
            <a:off x="328448" y="5105400"/>
            <a:ext cx="6858000" cy="762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2800" dirty="0" err="1">
                <a:solidFill>
                  <a:srgbClr val="FF0000"/>
                </a:solidFill>
              </a:rPr>
              <a:t>Bagaimana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supaya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urutan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dari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besar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ke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kecil</a:t>
            </a:r>
            <a:r>
              <a:rPr lang="en-US" sz="2800" dirty="0">
                <a:solidFill>
                  <a:srgbClr val="FF0000"/>
                </a:solidFill>
              </a:rPr>
              <a:t>?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788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build="p"/>
      <p:bldP spid="9" grpId="0" build="p"/>
      <p:bldP spid="13" grpId="0" build="p"/>
      <p:bldP spid="15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0555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L</a:t>
            </a:r>
            <a:r>
              <a:rPr lang="en-US" dirty="0"/>
              <a:t>ist </a:t>
            </a:r>
            <a:r>
              <a:rPr lang="en-US" dirty="0" err="1">
                <a:solidFill>
                  <a:srgbClr val="FF0000"/>
                </a:solidFill>
              </a:rPr>
              <a:t>T</a:t>
            </a:r>
            <a:r>
              <a:rPr lang="en-US" dirty="0" err="1"/>
              <a:t>idak</a:t>
            </a:r>
            <a:r>
              <a:rPr lang="en-US" dirty="0"/>
              <a:t> </a:t>
            </a:r>
            <a:r>
              <a:rPr lang="en-US" dirty="0" err="1">
                <a:solidFill>
                  <a:srgbClr val="FF0000"/>
                </a:solidFill>
              </a:rPr>
              <a:t>S</a:t>
            </a:r>
            <a:r>
              <a:rPr lang="en-US" dirty="0" err="1"/>
              <a:t>ederhana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0524" y="1752601"/>
            <a:ext cx="7036676" cy="3505199"/>
          </a:xfrm>
        </p:spPr>
        <p:txBody>
          <a:bodyPr/>
          <a:lstStyle/>
          <a:p>
            <a:r>
              <a:rPr lang="en-US" dirty="0"/>
              <a:t>List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struktur</a:t>
            </a:r>
            <a:r>
              <a:rPr lang="en-US" dirty="0"/>
              <a:t> data yang </a:t>
            </a:r>
            <a:r>
              <a:rPr lang="en-US" dirty="0" err="1"/>
              <a:t>sangat</a:t>
            </a:r>
            <a:r>
              <a:rPr lang="en-US" dirty="0"/>
              <a:t> </a:t>
            </a:r>
            <a:r>
              <a:rPr lang="en-US" dirty="0" err="1"/>
              <a:t>fleksibel</a:t>
            </a:r>
            <a:r>
              <a:rPr lang="en-US" dirty="0"/>
              <a:t>.</a:t>
            </a:r>
          </a:p>
          <a:p>
            <a:r>
              <a:rPr lang="en-US" dirty="0" err="1"/>
              <a:t>Elemen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list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berupa</a:t>
            </a:r>
            <a:r>
              <a:rPr lang="en-US" dirty="0"/>
              <a:t> tuple </a:t>
            </a:r>
            <a:r>
              <a:rPr lang="en-US" dirty="0" err="1"/>
              <a:t>ataupun</a:t>
            </a:r>
            <a:r>
              <a:rPr lang="en-US" dirty="0"/>
              <a:t> set.</a:t>
            </a:r>
          </a:p>
          <a:p>
            <a:r>
              <a:rPr lang="en-US" dirty="0" err="1"/>
              <a:t>Aturan</a:t>
            </a:r>
            <a:r>
              <a:rPr lang="en-US" dirty="0"/>
              <a:t> </a:t>
            </a:r>
            <a:r>
              <a:rPr lang="en-US" dirty="0" err="1"/>
              <a:t>tentang</a:t>
            </a:r>
            <a:r>
              <a:rPr lang="en-US" dirty="0"/>
              <a:t> tuple </a:t>
            </a:r>
            <a:r>
              <a:rPr lang="en-US" dirty="0" err="1"/>
              <a:t>dan</a:t>
            </a:r>
            <a:r>
              <a:rPr lang="en-US" dirty="0"/>
              <a:t> set </a:t>
            </a:r>
            <a:r>
              <a:rPr lang="en-US" dirty="0" err="1"/>
              <a:t>berlaku</a:t>
            </a:r>
            <a:r>
              <a:rPr lang="en-US" dirty="0"/>
              <a:t>, </a:t>
            </a:r>
            <a:r>
              <a:rPr lang="en-US" dirty="0" err="1"/>
              <a:t>ketika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list</a:t>
            </a:r>
          </a:p>
        </p:txBody>
      </p:sp>
    </p:spTree>
    <p:extLst>
      <p:ext uri="{BB962C8B-B14F-4D97-AF65-F5344CB8AC3E}">
        <p14:creationId xmlns:p14="http://schemas.microsoft.com/office/powerpoint/2010/main" val="1451721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L</a:t>
            </a:r>
            <a:r>
              <a:rPr lang="en-US" dirty="0"/>
              <a:t>ist </a:t>
            </a:r>
            <a:r>
              <a:rPr lang="en-US" dirty="0">
                <a:solidFill>
                  <a:srgbClr val="00B0F0"/>
                </a:solidFill>
              </a:rPr>
              <a:t>o</a:t>
            </a:r>
            <a:r>
              <a:rPr lang="en-US" dirty="0"/>
              <a:t>f </a:t>
            </a:r>
            <a:r>
              <a:rPr lang="en-US" dirty="0">
                <a:solidFill>
                  <a:srgbClr val="FF0000"/>
                </a:solidFill>
              </a:rPr>
              <a:t>T</a:t>
            </a:r>
            <a:r>
              <a:rPr lang="en-US" dirty="0"/>
              <a:t>uple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3476" y="1600201"/>
            <a:ext cx="8203324" cy="1143000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Merupakan</a:t>
            </a:r>
            <a:r>
              <a:rPr lang="en-US" dirty="0"/>
              <a:t> list yang </a:t>
            </a:r>
            <a:r>
              <a:rPr lang="en-US" dirty="0" err="1"/>
              <a:t>berisi</a:t>
            </a:r>
            <a:r>
              <a:rPr lang="en-US" dirty="0"/>
              <a:t> tuple</a:t>
            </a:r>
          </a:p>
          <a:p>
            <a:r>
              <a:rPr lang="en-US" dirty="0" err="1"/>
              <a:t>Contoh</a:t>
            </a:r>
            <a:r>
              <a:rPr lang="en-US" dirty="0"/>
              <a:t>: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869731" y="2732691"/>
            <a:ext cx="5378669" cy="696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itchFamily="34" charset="0"/>
              <a:buNone/>
            </a:pPr>
            <a:r>
              <a:rPr lang="en-US" dirty="0">
                <a:latin typeface="Bahnschrift Light" panose="020B0502040204020203" pitchFamily="34" charset="0"/>
              </a:rPr>
              <a:t>L=[(1,9,3,6), (‘a’, ‘b’, ‘c’)]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1219200" y="3200400"/>
            <a:ext cx="5638800" cy="696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None/>
            </a:pPr>
            <a:r>
              <a:rPr lang="en-US" dirty="0" err="1">
                <a:latin typeface="Bahnschrift Light" panose="020B0502040204020203" pitchFamily="34" charset="0"/>
              </a:rPr>
              <a:t>Apa</a:t>
            </a:r>
            <a:r>
              <a:rPr lang="en-US" dirty="0">
                <a:latin typeface="Bahnschrift Light" panose="020B0502040204020203" pitchFamily="34" charset="0"/>
              </a:rPr>
              <a:t> </a:t>
            </a:r>
            <a:r>
              <a:rPr lang="en-US" dirty="0" err="1">
                <a:latin typeface="Bahnschrift Light" panose="020B0502040204020203" pitchFamily="34" charset="0"/>
              </a:rPr>
              <a:t>hasil</a:t>
            </a:r>
            <a:r>
              <a:rPr lang="en-US" dirty="0">
                <a:latin typeface="Bahnschrift Light" panose="020B0502040204020203" pitchFamily="34" charset="0"/>
              </a:rPr>
              <a:t> </a:t>
            </a:r>
            <a:r>
              <a:rPr lang="en-US" dirty="0" err="1">
                <a:latin typeface="Bahnschrift Light" panose="020B0502040204020203" pitchFamily="34" charset="0"/>
              </a:rPr>
              <a:t>dari</a:t>
            </a:r>
            <a:r>
              <a:rPr lang="en-US" dirty="0">
                <a:latin typeface="Bahnschrift Light" panose="020B0502040204020203" pitchFamily="34" charset="0"/>
              </a:rPr>
              <a:t> </a:t>
            </a:r>
            <a:r>
              <a:rPr lang="en-US" dirty="0" err="1">
                <a:latin typeface="Bahnschrift Light" panose="020B0502040204020203" pitchFamily="34" charset="0"/>
              </a:rPr>
              <a:t>perintah</a:t>
            </a:r>
            <a:r>
              <a:rPr lang="en-US" dirty="0">
                <a:latin typeface="Bahnschrift Light" panose="020B0502040204020203" pitchFamily="34" charset="0"/>
              </a:rPr>
              <a:t> </a:t>
            </a:r>
            <a:r>
              <a:rPr lang="en-US" dirty="0" err="1">
                <a:latin typeface="Bahnschrift Light" panose="020B0502040204020203" pitchFamily="34" charset="0"/>
              </a:rPr>
              <a:t>berikut</a:t>
            </a:r>
            <a:r>
              <a:rPr lang="en-US" dirty="0">
                <a:latin typeface="Bahnschrift Light" panose="020B0502040204020203" pitchFamily="34" charset="0"/>
              </a:rPr>
              <a:t>?</a:t>
            </a:r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2209801" y="3733800"/>
            <a:ext cx="1904999" cy="696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Font typeface="Arial" pitchFamily="34" charset="0"/>
              <a:buNone/>
            </a:pPr>
            <a:r>
              <a:rPr lang="en-US" dirty="0">
                <a:latin typeface="Bahnschrift Light" panose="020B0502040204020203" pitchFamily="34" charset="0"/>
              </a:rPr>
              <a:t>print(L[1])</a:t>
            </a: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2209800" y="4267200"/>
            <a:ext cx="3124200" cy="696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Font typeface="Arial" pitchFamily="34" charset="0"/>
              <a:buNone/>
            </a:pPr>
            <a:r>
              <a:rPr lang="en-US" dirty="0">
                <a:latin typeface="Bahnschrift Light" panose="020B0502040204020203" pitchFamily="34" charset="0"/>
              </a:rPr>
              <a:t>L[1].insert(2,’z’)</a:t>
            </a:r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2209801" y="4724400"/>
            <a:ext cx="2362199" cy="696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Font typeface="Arial" pitchFamily="34" charset="0"/>
              <a:buNone/>
            </a:pPr>
            <a:r>
              <a:rPr lang="en-US" dirty="0">
                <a:latin typeface="Bahnschrift Light" panose="020B0502040204020203" pitchFamily="34" charset="0"/>
              </a:rPr>
              <a:t>print(L[0][1])</a:t>
            </a:r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2209800" y="5257800"/>
            <a:ext cx="2362199" cy="696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Font typeface="Arial" pitchFamily="34" charset="0"/>
              <a:buNone/>
            </a:pPr>
            <a:r>
              <a:rPr lang="en-US" dirty="0">
                <a:latin typeface="Bahnschrift Light" panose="020B0502040204020203" pitchFamily="34" charset="0"/>
              </a:rPr>
              <a:t>L[1][2] = ‘A’</a:t>
            </a:r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2286001" y="5780691"/>
            <a:ext cx="2971799" cy="696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Font typeface="Arial" pitchFamily="34" charset="0"/>
              <a:buNone/>
            </a:pPr>
            <a:r>
              <a:rPr lang="en-US" dirty="0" err="1">
                <a:latin typeface="Bahnschrift Light" panose="020B0502040204020203" pitchFamily="34" charset="0"/>
              </a:rPr>
              <a:t>L.append</a:t>
            </a:r>
            <a:r>
              <a:rPr lang="en-US" dirty="0">
                <a:latin typeface="Bahnschrift Light" panose="020B0502040204020203" pitchFamily="34" charset="0"/>
              </a:rPr>
              <a:t>(100)</a:t>
            </a:r>
          </a:p>
        </p:txBody>
      </p:sp>
    </p:spTree>
    <p:extLst>
      <p:ext uri="{BB962C8B-B14F-4D97-AF65-F5344CB8AC3E}">
        <p14:creationId xmlns:p14="http://schemas.microsoft.com/office/powerpoint/2010/main" val="3028788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build="p"/>
      <p:bldP spid="9" grpId="0" build="p"/>
      <p:bldP spid="15" grpId="0" build="p"/>
      <p:bldP spid="16" grpId="0" build="p"/>
      <p:bldP spid="17" grpId="0" build="p"/>
      <p:bldP spid="18" grpId="0" build="p"/>
      <p:bldP spid="19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L</a:t>
            </a:r>
            <a:r>
              <a:rPr lang="en-US" dirty="0"/>
              <a:t>ist </a:t>
            </a:r>
            <a:r>
              <a:rPr lang="en-US" dirty="0">
                <a:solidFill>
                  <a:srgbClr val="00B0F0"/>
                </a:solidFill>
              </a:rPr>
              <a:t>o</a:t>
            </a:r>
            <a:r>
              <a:rPr lang="en-US" dirty="0"/>
              <a:t>f </a:t>
            </a:r>
            <a:r>
              <a:rPr lang="en-US" dirty="0">
                <a:solidFill>
                  <a:srgbClr val="FF0000"/>
                </a:solidFill>
              </a:rPr>
              <a:t>S</a:t>
            </a:r>
            <a:r>
              <a:rPr lang="en-US" dirty="0"/>
              <a:t>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3476" y="1589691"/>
            <a:ext cx="8203324" cy="1143000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Merupakan</a:t>
            </a:r>
            <a:r>
              <a:rPr lang="en-US" dirty="0"/>
              <a:t> list yang </a:t>
            </a:r>
            <a:r>
              <a:rPr lang="en-US" dirty="0" err="1"/>
              <a:t>berisi</a:t>
            </a:r>
            <a:r>
              <a:rPr lang="en-US" dirty="0"/>
              <a:t> set</a:t>
            </a:r>
          </a:p>
          <a:p>
            <a:r>
              <a:rPr lang="en-US" dirty="0" err="1"/>
              <a:t>Contoh</a:t>
            </a:r>
            <a:r>
              <a:rPr lang="en-US" dirty="0"/>
              <a:t>: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869731" y="2732691"/>
            <a:ext cx="6369269" cy="696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itchFamily="34" charset="0"/>
              <a:buNone/>
            </a:pPr>
            <a:r>
              <a:rPr lang="en-US" dirty="0">
                <a:latin typeface="Bahnschrift Light" panose="020B0502040204020203" pitchFamily="34" charset="0"/>
              </a:rPr>
              <a:t>L=[{1,9,3,6}, {2, 3, 9},{1, 4, 9, 12}]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1219200" y="3200400"/>
            <a:ext cx="5638800" cy="696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None/>
            </a:pPr>
            <a:r>
              <a:rPr lang="en-US" dirty="0" err="1">
                <a:latin typeface="Bahnschrift Light" panose="020B0502040204020203" pitchFamily="34" charset="0"/>
              </a:rPr>
              <a:t>Apa</a:t>
            </a:r>
            <a:r>
              <a:rPr lang="en-US" dirty="0">
                <a:latin typeface="Bahnschrift Light" panose="020B0502040204020203" pitchFamily="34" charset="0"/>
              </a:rPr>
              <a:t> </a:t>
            </a:r>
            <a:r>
              <a:rPr lang="en-US" dirty="0" err="1">
                <a:latin typeface="Bahnschrift Light" panose="020B0502040204020203" pitchFamily="34" charset="0"/>
              </a:rPr>
              <a:t>hasil</a:t>
            </a:r>
            <a:r>
              <a:rPr lang="en-US" dirty="0">
                <a:latin typeface="Bahnschrift Light" panose="020B0502040204020203" pitchFamily="34" charset="0"/>
              </a:rPr>
              <a:t> </a:t>
            </a:r>
            <a:r>
              <a:rPr lang="en-US" dirty="0" err="1">
                <a:latin typeface="Bahnschrift Light" panose="020B0502040204020203" pitchFamily="34" charset="0"/>
              </a:rPr>
              <a:t>dari</a:t>
            </a:r>
            <a:r>
              <a:rPr lang="en-US" dirty="0">
                <a:latin typeface="Bahnschrift Light" panose="020B0502040204020203" pitchFamily="34" charset="0"/>
              </a:rPr>
              <a:t> </a:t>
            </a:r>
            <a:r>
              <a:rPr lang="en-US" dirty="0" err="1">
                <a:latin typeface="Bahnschrift Light" panose="020B0502040204020203" pitchFamily="34" charset="0"/>
              </a:rPr>
              <a:t>perintah</a:t>
            </a:r>
            <a:r>
              <a:rPr lang="en-US" dirty="0">
                <a:latin typeface="Bahnschrift Light" panose="020B0502040204020203" pitchFamily="34" charset="0"/>
              </a:rPr>
              <a:t> </a:t>
            </a:r>
            <a:r>
              <a:rPr lang="en-US" dirty="0" err="1">
                <a:latin typeface="Bahnschrift Light" panose="020B0502040204020203" pitchFamily="34" charset="0"/>
              </a:rPr>
              <a:t>berikut</a:t>
            </a:r>
            <a:r>
              <a:rPr lang="en-US" dirty="0">
                <a:latin typeface="Bahnschrift Light" panose="020B0502040204020203" pitchFamily="34" charset="0"/>
              </a:rPr>
              <a:t>?</a:t>
            </a:r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2209801" y="3733800"/>
            <a:ext cx="1904999" cy="696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Font typeface="Arial" pitchFamily="34" charset="0"/>
              <a:buNone/>
            </a:pPr>
            <a:r>
              <a:rPr lang="en-US" dirty="0">
                <a:latin typeface="Bahnschrift Light" panose="020B0502040204020203" pitchFamily="34" charset="0"/>
              </a:rPr>
              <a:t>print(L[1])</a:t>
            </a: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2209800" y="4267200"/>
            <a:ext cx="3124200" cy="696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Font typeface="Arial" pitchFamily="34" charset="0"/>
              <a:buNone/>
            </a:pPr>
            <a:r>
              <a:rPr lang="en-US" dirty="0">
                <a:latin typeface="Bahnschrift Light" panose="020B0502040204020203" pitchFamily="34" charset="0"/>
              </a:rPr>
              <a:t>L[1].insert(2, 200)</a:t>
            </a:r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2209801" y="4724400"/>
            <a:ext cx="2362199" cy="696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Font typeface="Arial" pitchFamily="34" charset="0"/>
              <a:buNone/>
            </a:pPr>
            <a:r>
              <a:rPr lang="en-US" dirty="0">
                <a:latin typeface="Bahnschrift Light" panose="020B0502040204020203" pitchFamily="34" charset="0"/>
              </a:rPr>
              <a:t>print(L[0][1])</a:t>
            </a:r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2209800" y="5257800"/>
            <a:ext cx="5943600" cy="696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Font typeface="Arial" pitchFamily="34" charset="0"/>
              <a:buNone/>
            </a:pPr>
            <a:r>
              <a:rPr lang="en-US" dirty="0">
                <a:latin typeface="Bahnschrift Light" panose="020B0502040204020203" pitchFamily="34" charset="0"/>
              </a:rPr>
              <a:t>print(L[1].union(L[2]))</a:t>
            </a:r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2209800" y="5715000"/>
            <a:ext cx="5940972" cy="714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Font typeface="Arial" pitchFamily="34" charset="0"/>
              <a:buNone/>
            </a:pPr>
            <a:r>
              <a:rPr lang="en-US" dirty="0">
                <a:latin typeface="Bahnschrift Light" panose="020B0502040204020203" pitchFamily="34" charset="0"/>
              </a:rPr>
              <a:t>print(L[0].intersection(L[1]))</a:t>
            </a:r>
          </a:p>
        </p:txBody>
      </p:sp>
    </p:spTree>
    <p:extLst>
      <p:ext uri="{BB962C8B-B14F-4D97-AF65-F5344CB8AC3E}">
        <p14:creationId xmlns:p14="http://schemas.microsoft.com/office/powerpoint/2010/main" val="3201430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build="p"/>
      <p:bldP spid="9" grpId="0" build="p"/>
      <p:bldP spid="15" grpId="0" build="p"/>
      <p:bldP spid="16" grpId="0" build="p"/>
      <p:bldP spid="17" grpId="0" build="p"/>
      <p:bldP spid="18" grpId="0" build="p"/>
      <p:bldP spid="19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11903</TotalTime>
  <Words>716</Words>
  <Application>Microsoft Office PowerPoint</Application>
  <PresentationFormat>On-screen Show (4:3)</PresentationFormat>
  <Paragraphs>130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Bahnschrift Light</vt:lpstr>
      <vt:lpstr>Bookman Old Style</vt:lpstr>
      <vt:lpstr>Calibri</vt:lpstr>
      <vt:lpstr>Times New Roman</vt:lpstr>
      <vt:lpstr>Office Theme</vt:lpstr>
      <vt:lpstr>List pada Python</vt:lpstr>
      <vt:lpstr>List</vt:lpstr>
      <vt:lpstr>List</vt:lpstr>
      <vt:lpstr>List</vt:lpstr>
      <vt:lpstr>PowerPoint Presentation</vt:lpstr>
      <vt:lpstr>Penanganan List-1</vt:lpstr>
      <vt:lpstr>Penanganan List-2</vt:lpstr>
      <vt:lpstr>PowerPoint Presentation</vt:lpstr>
      <vt:lpstr>Beberapa fungsi untuk penanganan List</vt:lpstr>
      <vt:lpstr>PowerPoint Presentation</vt:lpstr>
      <vt:lpstr>Algoritma dasar menentukan bilangan terbesar dari suatu list, dengan banyak elemen N</vt:lpstr>
      <vt:lpstr>PowerPoint Presentation</vt:lpstr>
      <vt:lpstr>List Tidak Sederhana</vt:lpstr>
      <vt:lpstr>List of Tuple</vt:lpstr>
      <vt:lpstr>List of Set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Acer</cp:lastModifiedBy>
  <cp:revision>115</cp:revision>
  <dcterms:created xsi:type="dcterms:W3CDTF">2017-05-08T04:59:19Z</dcterms:created>
  <dcterms:modified xsi:type="dcterms:W3CDTF">2026-02-24T03:54:05Z</dcterms:modified>
</cp:coreProperties>
</file>